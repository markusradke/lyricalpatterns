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741" r:id="rId3"/>
    <p:sldId id="758" r:id="rId4"/>
    <p:sldId id="759" r:id="rId5"/>
    <p:sldId id="773" r:id="rId6"/>
    <p:sldId id="693" r:id="rId7"/>
    <p:sldId id="695" r:id="rId8"/>
    <p:sldId id="714" r:id="rId9"/>
    <p:sldId id="765" r:id="rId10"/>
    <p:sldId id="766" r:id="rId11"/>
    <p:sldId id="767" r:id="rId12"/>
    <p:sldId id="768" r:id="rId13"/>
    <p:sldId id="760" r:id="rId14"/>
    <p:sldId id="770" r:id="rId15"/>
    <p:sldId id="774" r:id="rId16"/>
    <p:sldId id="769" r:id="rId17"/>
    <p:sldId id="771" r:id="rId18"/>
    <p:sldId id="772" r:id="rId19"/>
    <p:sldId id="701" r:id="rId20"/>
    <p:sldId id="732" r:id="rId21"/>
    <p:sldId id="734" r:id="rId22"/>
    <p:sldId id="736" r:id="rId23"/>
    <p:sldId id="750" r:id="rId24"/>
    <p:sldId id="637" r:id="rId25"/>
  </p:sldIdLst>
  <p:sldSz cx="12192000" cy="6858000"/>
  <p:notesSz cx="6858000" cy="994727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D20"/>
    <a:srgbClr val="FFFFFF"/>
    <a:srgbClr val="C40DD0"/>
    <a:srgbClr val="C20D40"/>
    <a:srgbClr val="C50E1F"/>
    <a:srgbClr val="F67A86"/>
    <a:srgbClr val="B4B4B4"/>
    <a:srgbClr val="F3F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78449" autoAdjust="0"/>
  </p:normalViewPr>
  <p:slideViewPr>
    <p:cSldViewPr>
      <p:cViewPr varScale="1">
        <p:scale>
          <a:sx n="88" d="100"/>
          <a:sy n="88" d="100"/>
        </p:scale>
        <p:origin x="121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566"/>
    </p:cViewPr>
  </p:sorterViewPr>
  <p:notesViewPr>
    <p:cSldViewPr>
      <p:cViewPr varScale="1">
        <p:scale>
          <a:sx n="79" d="100"/>
          <a:sy n="79" d="100"/>
        </p:scale>
        <p:origin x="394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9C177B6-4A67-C961-ED31-30F64EF6AE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CBB132-FF57-D034-EB42-C49DBE2E2D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99400-5849-4723-8898-46BF5BDB37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7CA373-CCE8-BC25-CB14-7DA94549D9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40E5B-F111-45B6-E8DF-6E2940E582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F10B-A721-44CE-84E6-E40937DFD27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743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498" cy="497126"/>
          </a:xfrm>
          <a:prstGeom prst="rect">
            <a:avLst/>
          </a:prstGeom>
        </p:spPr>
        <p:txBody>
          <a:bodyPr vert="horz" lIns="91989" tIns="45994" rIns="91989" bIns="45994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92" y="0"/>
            <a:ext cx="2972498" cy="497126"/>
          </a:xfrm>
          <a:prstGeom prst="rect">
            <a:avLst/>
          </a:prstGeom>
        </p:spPr>
        <p:txBody>
          <a:bodyPr vert="horz" lIns="91989" tIns="45994" rIns="91989" bIns="45994" rtlCol="0"/>
          <a:lstStyle>
            <a:lvl1pPr algn="r">
              <a:defRPr sz="1200"/>
            </a:lvl1pPr>
          </a:lstStyle>
          <a:p>
            <a:fld id="{EC90C3A3-A726-420C-8DD1-C905CEB9E511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989" tIns="45994" rIns="91989" bIns="4599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962" y="4725075"/>
            <a:ext cx="5486078" cy="4475718"/>
          </a:xfrm>
          <a:prstGeom prst="rect">
            <a:avLst/>
          </a:prstGeom>
        </p:spPr>
        <p:txBody>
          <a:bodyPr vert="horz" lIns="91989" tIns="45994" rIns="91989" bIns="45994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48562"/>
            <a:ext cx="2972498" cy="497125"/>
          </a:xfrm>
          <a:prstGeom prst="rect">
            <a:avLst/>
          </a:prstGeom>
        </p:spPr>
        <p:txBody>
          <a:bodyPr vert="horz" lIns="91989" tIns="45994" rIns="91989" bIns="45994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92" y="9448562"/>
            <a:ext cx="2972498" cy="497125"/>
          </a:xfrm>
          <a:prstGeom prst="rect">
            <a:avLst/>
          </a:prstGeom>
        </p:spPr>
        <p:txBody>
          <a:bodyPr vert="horz" lIns="91989" tIns="45994" rIns="91989" bIns="45994" rtlCol="0" anchor="b"/>
          <a:lstStyle>
            <a:lvl1pPr algn="r">
              <a:defRPr sz="1200"/>
            </a:lvl1pPr>
          </a:lstStyle>
          <a:p>
            <a:fld id="{B94D105A-7B07-468A-9D9D-C7A2633A20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062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Steffen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072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701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48C73-01C5-0D0A-9AFD-83BB0B96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5366D90-A170-1A91-A571-1F498780E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BC428B2-CA1C-3BA1-2936-849122243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7F4B4E-25D0-8FEF-E482-870DD8528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5728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DE47-8071-F457-15E1-2E89E6FC6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E0A75F-FBAC-D26F-5260-6523CBED8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CEBBAC1-B4A2-E62E-8EC1-C5CCAF6AA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8002FB-D37E-3BFB-1D9C-19D55F022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351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7A978-95D9-E66F-F49E-DA1FFF32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FB835D4-8864-344E-90C0-577630233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2CBF14-97CD-187A-674B-31E0A0890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73DFC9-1B04-8D5C-D46B-0981BD7B9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2875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übernimmt</a:t>
            </a:r>
            <a:r>
              <a:rPr lang="en-US"/>
              <a:t> Markus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210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0E028-DA0C-6E23-9B1C-A91D0DE7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F32852-E6F4-EC6D-EF82-BDC506899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75EC69A-8A72-F389-F8FB-4F8F9DD70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MediaControl</a:t>
            </a:r>
            <a:r>
              <a:rPr lang="en-US" dirty="0"/>
              <a:t> GERMAN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D6C7EA-84BE-9BE9-A0BC-1303CF234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878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6D1F4-81F7-A2DC-FF18-ADC1A749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B46D2B-C492-BD33-08D3-CE827F385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AEF12E0-CE4C-0119-396E-A3A6CD61B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72FD28-C81A-A007-727D-CA0DF33C5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375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F53A-1931-3FB9-56DD-3E619F7F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42D31F-1207-BCF0-1F36-022115D87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48FB893-3967-63B1-F4AB-954F40E35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8139B3-86AC-7E97-A4E6-45A19BFBC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69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9ED1E-0C43-291A-D78C-73389161F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8A10ABF-3D59-AEAC-C092-6628C1252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E040F42-8DB3-4C4F-59BA-4DD127C0C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324600-DBEE-D0D3-24EE-72F0C4601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218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0380-9F79-9172-E6B2-F64D597B8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FA74958-32AD-904C-6A1E-CA2A71959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6EE565-7116-B59A-4241-954D52B76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167D56-8DF6-DAF7-5E66-6DD979CF3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596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D96E4-70DD-1F6C-D4EB-2DEF420B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9171DE4-A96D-2F5A-D5C2-516210279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115FFB-3A1E-F20A-A75E-946CD6748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übernimmt</a:t>
            </a:r>
            <a:r>
              <a:rPr lang="en-US"/>
              <a:t> Markus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11AC8B-3D69-4D15-06CD-34C94AE06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2091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D03F-218A-FA05-F170-E71AAB82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9A4BBBB-06E3-61BC-A95D-A20CA2B6C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6A8228B-F194-5A6E-9B1B-48797EE9F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Musicbrainz</a:t>
            </a:r>
            <a:r>
              <a:rPr lang="en-US" dirty="0"/>
              <a:t>: </a:t>
            </a:r>
          </a:p>
          <a:p>
            <a:r>
              <a:rPr lang="en-US" dirty="0"/>
              <a:t>many genres </a:t>
            </a:r>
          </a:p>
          <a:p>
            <a:r>
              <a:rPr lang="en-US" dirty="0" err="1"/>
              <a:t>Democartic</a:t>
            </a:r>
            <a:r>
              <a:rPr lang="en-US" dirty="0"/>
              <a:t> voting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F6826E-6376-E6AB-3871-277D15AF1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340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E9C2A-94DA-C596-44AF-B3CA12B0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14C0B30-0311-E7D3-FA6E-E59E4189B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631CECB-CC0B-774A-861C-037807830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Musicbrainz</a:t>
            </a:r>
            <a:r>
              <a:rPr lang="en-US" dirty="0"/>
              <a:t>: </a:t>
            </a:r>
          </a:p>
          <a:p>
            <a:r>
              <a:rPr lang="en-US" dirty="0"/>
              <a:t>many genres </a:t>
            </a:r>
          </a:p>
          <a:p>
            <a:r>
              <a:rPr lang="en-US" dirty="0" err="1"/>
              <a:t>Democartic</a:t>
            </a:r>
            <a:r>
              <a:rPr lang="en-US" dirty="0"/>
              <a:t> voting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5A4D9-DBCB-7252-4E55-DB193ADC6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406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A606-DCEE-F24A-39D1-BEC5297AC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51C219-6C8C-F788-D26C-5B9C39872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AC352C-B36E-EB5D-1602-67AD50747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Musicbrainz</a:t>
            </a:r>
            <a:r>
              <a:rPr lang="en-US" dirty="0"/>
              <a:t>: </a:t>
            </a:r>
          </a:p>
          <a:p>
            <a:r>
              <a:rPr lang="en-US" dirty="0"/>
              <a:t>many genres </a:t>
            </a:r>
          </a:p>
          <a:p>
            <a:r>
              <a:rPr lang="en-US" dirty="0" err="1"/>
              <a:t>Democartic</a:t>
            </a:r>
            <a:r>
              <a:rPr lang="en-US" dirty="0"/>
              <a:t> voting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B7AE26-83DA-8A2D-8CD1-147CAC587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347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E986F-CC74-29E4-1981-4E775124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F0101A-A07F-7F64-33CE-A4C9F1EDB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6CDA126-02B5-0F67-7486-15D87FC7D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Musicbrainz</a:t>
            </a:r>
            <a:r>
              <a:rPr lang="en-US" dirty="0"/>
              <a:t>: </a:t>
            </a:r>
          </a:p>
          <a:p>
            <a:r>
              <a:rPr lang="en-US" dirty="0"/>
              <a:t>many genres </a:t>
            </a:r>
          </a:p>
          <a:p>
            <a:r>
              <a:rPr lang="en-US" dirty="0" err="1"/>
              <a:t>Democartic</a:t>
            </a:r>
            <a:r>
              <a:rPr lang="en-US" dirty="0"/>
              <a:t> voting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ADD1CB-B339-CAA7-C1A6-3D4CC3E95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9081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F1207-8397-1EE0-6A09-FAFE3823D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805805B-6877-1E58-3997-A4646AC03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2A72953-91C2-3B5E-6CC8-68B14629C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Musicbrainz</a:t>
            </a:r>
            <a:r>
              <a:rPr lang="en-US" dirty="0"/>
              <a:t>: </a:t>
            </a:r>
          </a:p>
          <a:p>
            <a:r>
              <a:rPr lang="en-US" dirty="0"/>
              <a:t>many genres </a:t>
            </a:r>
          </a:p>
          <a:p>
            <a:r>
              <a:rPr lang="en-US" dirty="0" err="1"/>
              <a:t>Democartic</a:t>
            </a:r>
            <a:r>
              <a:rPr lang="en-US" dirty="0"/>
              <a:t> voting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3FD267-3A69-8B08-09ED-E80381E10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6038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TODO:</a:t>
            </a:r>
          </a:p>
          <a:p>
            <a:endParaRPr lang="de-DE" dirty="0"/>
          </a:p>
          <a:p>
            <a:r>
              <a:rPr lang="de-DE" dirty="0"/>
              <a:t>Natürliche Validität der Ergebnisse (von Menschen gemacht)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Was ist ein 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Art? Was für Felddaten?</a:t>
            </a:r>
          </a:p>
          <a:p>
            <a:r>
              <a:rPr lang="de-DE" dirty="0"/>
              <a:t>Lyrics nur basal eingeflossen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D105A-7B07-468A-9D9D-C7A2633A20B0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714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415008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90E58-811E-483E-B740-9C8996AC2956}" type="datetime1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59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430" y="274638"/>
            <a:ext cx="11292199" cy="594327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C50E1F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8430" y="1600200"/>
            <a:ext cx="11292199" cy="4637112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800" b="1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68429" y="6356351"/>
            <a:ext cx="11292199" cy="365125"/>
          </a:xfrm>
        </p:spPr>
        <p:txBody>
          <a:bodyPr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050" name="Picture 2" descr="W:\Vorlagen\Fachgebietsvorlagen\TU_Logo\TU_Logo_Kurzversion\FuerScreen\RGB\Rot\TU_Logo_kurz_RGB_ro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544" y="337425"/>
            <a:ext cx="714929" cy="53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fik 11"/>
          <p:cNvPicPr>
            <a:picLocks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43" r="1"/>
          <a:stretch/>
        </p:blipFill>
        <p:spPr>
          <a:xfrm>
            <a:off x="10416480" y="293171"/>
            <a:ext cx="444035" cy="57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7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2747964"/>
            <a:ext cx="10363200" cy="1362075"/>
          </a:xfrm>
        </p:spPr>
        <p:txBody>
          <a:bodyPr anchor="t"/>
          <a:lstStyle>
            <a:lvl1pPr algn="ctr">
              <a:defRPr sz="4000" b="1" cap="all">
                <a:solidFill>
                  <a:srgbClr val="C00000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4089054"/>
            <a:ext cx="10363200" cy="1500187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78C5-963A-4C35-9FD5-A0A0A78C11CD}" type="datetime1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106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4BFD-FCB8-42C5-B688-F88CFAF184EB}" type="datetime1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814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27D4-BA55-4BD4-9E93-88EF3ED4CE3A}" type="datetime1">
              <a:rPr lang="de-DE" smtClean="0"/>
              <a:t>24.04.2026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125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D687F-B0A0-4C9D-B12F-6DD442A29E20}" type="datetime1">
              <a:rPr lang="de-DE" smtClean="0"/>
              <a:t>24.04.2026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10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7125-8B58-41AD-BA18-3DA1625618A0}" type="datetime1">
              <a:rPr lang="de-DE" smtClean="0"/>
              <a:t>24.04.2026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1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04B6-D29A-4D50-A260-F579AF5882EB}" type="datetime1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2993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51C0-CE15-4F99-AEFA-0D2DE64965B9}" type="datetime1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061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E9B0-EE0C-4B3A-BB69-6CCF46E83C5E}" type="datetime1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248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B393-392B-487F-B733-C7A016927E97}" type="datetime1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6372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C20F-C26F-410B-813C-64F16A8B9B47}" type="datetime1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2199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3A22-DAB4-427F-83FC-348F41F95BAF}" type="datetime1">
              <a:rPr lang="de-DE" smtClean="0"/>
              <a:t>24.04.2026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719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0648"/>
            <a:ext cx="10515600" cy="972739"/>
          </a:xfrm>
        </p:spPr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10800523" y="6356351"/>
            <a:ext cx="553277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200" dirty="0"/>
          </a:p>
        </p:txBody>
      </p:sp>
      <p:sp>
        <p:nvSpPr>
          <p:cNvPr id="18" name="Fußzeilenplatzhalter 17"/>
          <p:cNvSpPr>
            <a:spLocks noGrp="1"/>
          </p:cNvSpPr>
          <p:nvPr>
            <p:ph type="ftr" sz="quarter" idx="11"/>
          </p:nvPr>
        </p:nvSpPr>
        <p:spPr>
          <a:xfrm>
            <a:off x="4038600" y="6382107"/>
            <a:ext cx="6643125" cy="366183"/>
          </a:xfrm>
        </p:spPr>
        <p:txBody>
          <a:bodyPr/>
          <a:lstStyle>
            <a:lvl1pPr algn="l">
              <a:defRPr/>
            </a:lvl1pPr>
          </a:lstStyle>
          <a:p>
            <a:endParaRPr lang="de-DE" dirty="0"/>
          </a:p>
        </p:txBody>
      </p:sp>
      <p:sp>
        <p:nvSpPr>
          <p:cNvPr id="19" name="Foliennummernplatzhalter 18"/>
          <p:cNvSpPr>
            <a:spLocks noGrp="1"/>
          </p:cNvSpPr>
          <p:nvPr>
            <p:ph type="sldNum" sz="quarter" idx="12"/>
          </p:nvPr>
        </p:nvSpPr>
        <p:spPr>
          <a:xfrm>
            <a:off x="10704512" y="6382107"/>
            <a:ext cx="768085" cy="366183"/>
          </a:xfrm>
        </p:spPr>
        <p:txBody>
          <a:bodyPr/>
          <a:lstStyle/>
          <a:p>
            <a:fld id="{486EAB89-5AA3-EA4C-AA76-6885C17EBCE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Inhaltsplatzhalter 22"/>
          <p:cNvSpPr>
            <a:spLocks noGrp="1"/>
          </p:cNvSpPr>
          <p:nvPr>
            <p:ph sz="quarter" idx="13"/>
          </p:nvPr>
        </p:nvSpPr>
        <p:spPr>
          <a:xfrm>
            <a:off x="838200" y="1316766"/>
            <a:ext cx="10515600" cy="460851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800" b="0"/>
            </a:lvl1pPr>
            <a:lvl2pPr>
              <a:lnSpc>
                <a:spcPct val="90000"/>
              </a:lnSpc>
              <a:defRPr sz="2400"/>
            </a:lvl2pPr>
            <a:lvl3pPr>
              <a:lnSpc>
                <a:spcPct val="90000"/>
              </a:lnSpc>
              <a:defRPr sz="2133"/>
            </a:lvl3pPr>
            <a:lvl4pPr>
              <a:lnSpc>
                <a:spcPct val="90000"/>
              </a:lnSpc>
              <a:defRPr sz="1867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9497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28" y="2091353"/>
            <a:ext cx="5684515" cy="1367703"/>
          </a:xfrm>
          <a:prstGeom prst="rect">
            <a:avLst/>
          </a:prstGeom>
        </p:spPr>
      </p:pic>
      <p:sp>
        <p:nvSpPr>
          <p:cNvPr id="9" name="Rechteck 8"/>
          <p:cNvSpPr/>
          <p:nvPr userDrawn="1"/>
        </p:nvSpPr>
        <p:spPr>
          <a:xfrm>
            <a:off x="798208" y="3645233"/>
            <a:ext cx="105555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4800" b="1" dirty="0">
                <a:solidFill>
                  <a:srgbClr val="E7287E"/>
                </a:solidFill>
                <a:latin typeface="Arial" charset="0"/>
                <a:ea typeface="Arial" charset="0"/>
                <a:cs typeface="Arial" charset="0"/>
              </a:rPr>
              <a:t>VIELEN DANK FÜR IHRE AUFMERKSAMKEIT!</a:t>
            </a:r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0"/>
          </p:nvPr>
        </p:nvSpPr>
        <p:spPr>
          <a:xfrm>
            <a:off x="9456373" y="6356351"/>
            <a:ext cx="1248139" cy="366183"/>
          </a:xfrm>
          <a:prstGeom prst="rect">
            <a:avLst/>
          </a:prstGeom>
        </p:spPr>
        <p:txBody>
          <a:bodyPr/>
          <a:lstStyle/>
          <a:p>
            <a:fld id="{44845DB8-E77B-4FEE-BCA4-D5E2324673A7}" type="datetime1">
              <a:rPr lang="de-DE" smtClean="0"/>
              <a:t>24.04.2026</a:t>
            </a:fld>
            <a:endParaRPr lang="de-DE" dirty="0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AB89-5AA3-EA4C-AA76-6885C17EBCE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3446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0648"/>
            <a:ext cx="10515600" cy="972739"/>
          </a:xfrm>
        </p:spPr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10800523" y="6356351"/>
            <a:ext cx="553277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200" dirty="0"/>
          </a:p>
        </p:txBody>
      </p:sp>
      <p:sp>
        <p:nvSpPr>
          <p:cNvPr id="18" name="Fußzeilenplatzhalter 17"/>
          <p:cNvSpPr>
            <a:spLocks noGrp="1"/>
          </p:cNvSpPr>
          <p:nvPr>
            <p:ph type="ftr" sz="quarter" idx="11"/>
          </p:nvPr>
        </p:nvSpPr>
        <p:spPr>
          <a:xfrm>
            <a:off x="4038600" y="6382107"/>
            <a:ext cx="6643125" cy="366183"/>
          </a:xfrm>
        </p:spPr>
        <p:txBody>
          <a:bodyPr/>
          <a:lstStyle>
            <a:lvl1pPr algn="l">
              <a:defRPr/>
            </a:lvl1pPr>
          </a:lstStyle>
          <a:p>
            <a:endParaRPr lang="de-DE" dirty="0"/>
          </a:p>
        </p:txBody>
      </p:sp>
      <p:sp>
        <p:nvSpPr>
          <p:cNvPr id="19" name="Foliennummernplatzhalter 18"/>
          <p:cNvSpPr>
            <a:spLocks noGrp="1"/>
          </p:cNvSpPr>
          <p:nvPr>
            <p:ph type="sldNum" sz="quarter" idx="12"/>
          </p:nvPr>
        </p:nvSpPr>
        <p:spPr>
          <a:xfrm>
            <a:off x="10704512" y="6382107"/>
            <a:ext cx="768085" cy="366183"/>
          </a:xfrm>
        </p:spPr>
        <p:txBody>
          <a:bodyPr/>
          <a:lstStyle/>
          <a:p>
            <a:fld id="{486EAB89-5AA3-EA4C-AA76-6885C17EBCE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Inhaltsplatzhalter 22"/>
          <p:cNvSpPr>
            <a:spLocks noGrp="1"/>
          </p:cNvSpPr>
          <p:nvPr>
            <p:ph sz="quarter" idx="13"/>
          </p:nvPr>
        </p:nvSpPr>
        <p:spPr>
          <a:xfrm>
            <a:off x="838200" y="1316766"/>
            <a:ext cx="10515600" cy="460851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800" b="0"/>
            </a:lvl1pPr>
            <a:lvl2pPr>
              <a:lnSpc>
                <a:spcPct val="90000"/>
              </a:lnSpc>
              <a:defRPr sz="2400"/>
            </a:lvl2pPr>
            <a:lvl3pPr>
              <a:lnSpc>
                <a:spcPct val="90000"/>
              </a:lnSpc>
              <a:defRPr sz="2133"/>
            </a:lvl3pPr>
            <a:lvl4pPr>
              <a:lnSpc>
                <a:spcPct val="90000"/>
              </a:lnSpc>
              <a:defRPr sz="1867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41123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838200" y="2372883"/>
            <a:ext cx="10515600" cy="1920212"/>
          </a:xfrm>
          <a:prstGeom prst="rect">
            <a:avLst/>
          </a:prstGeom>
          <a:solidFill>
            <a:srgbClr val="E72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7"/>
          </p:nvPr>
        </p:nvSpPr>
        <p:spPr>
          <a:xfrm>
            <a:off x="838200" y="2372090"/>
            <a:ext cx="10515600" cy="1921007"/>
          </a:xfrm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733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ußzeilenplatzhalter 17"/>
          <p:cNvSpPr>
            <a:spLocks noGrp="1"/>
          </p:cNvSpPr>
          <p:nvPr>
            <p:ph type="ftr" sz="quarter" idx="11"/>
          </p:nvPr>
        </p:nvSpPr>
        <p:spPr>
          <a:xfrm>
            <a:off x="4038600" y="6382107"/>
            <a:ext cx="6643125" cy="366183"/>
          </a:xfrm>
        </p:spPr>
        <p:txBody>
          <a:bodyPr/>
          <a:lstStyle>
            <a:lvl1pPr algn="l">
              <a:defRPr/>
            </a:lvl1pPr>
          </a:lstStyle>
          <a:p>
            <a:endParaRPr lang="de-DE" dirty="0"/>
          </a:p>
        </p:txBody>
      </p:sp>
      <p:sp>
        <p:nvSpPr>
          <p:cNvPr id="11" name="Foliennummernplatzhalter 18"/>
          <p:cNvSpPr>
            <a:spLocks noGrp="1"/>
          </p:cNvSpPr>
          <p:nvPr>
            <p:ph type="sldNum" sz="quarter" idx="12"/>
          </p:nvPr>
        </p:nvSpPr>
        <p:spPr>
          <a:xfrm>
            <a:off x="10704512" y="6382107"/>
            <a:ext cx="768085" cy="366183"/>
          </a:xfrm>
        </p:spPr>
        <p:txBody>
          <a:bodyPr/>
          <a:lstStyle/>
          <a:p>
            <a:fld id="{486EAB89-5AA3-EA4C-AA76-6885C17EBCE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838200" y="4485218"/>
            <a:ext cx="10515600" cy="1536700"/>
          </a:xfrm>
        </p:spPr>
        <p:txBody>
          <a:bodyPr>
            <a:noAutofit/>
          </a:bodyPr>
          <a:lstStyle>
            <a:lvl1pPr>
              <a:defRPr sz="2133"/>
            </a:lvl1pPr>
            <a:lvl2pPr>
              <a:defRPr sz="1600"/>
            </a:lvl2pPr>
            <a:lvl3pPr>
              <a:defRPr sz="1467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0368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0648"/>
            <a:ext cx="10515600" cy="972739"/>
          </a:xfrm>
        </p:spPr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10800523" y="6356351"/>
            <a:ext cx="553277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200" dirty="0"/>
          </a:p>
        </p:txBody>
      </p:sp>
      <p:sp>
        <p:nvSpPr>
          <p:cNvPr id="18" name="Fußzeilenplatzhalter 17"/>
          <p:cNvSpPr>
            <a:spLocks noGrp="1"/>
          </p:cNvSpPr>
          <p:nvPr>
            <p:ph type="ftr" sz="quarter" idx="11"/>
          </p:nvPr>
        </p:nvSpPr>
        <p:spPr>
          <a:xfrm>
            <a:off x="4038600" y="6382107"/>
            <a:ext cx="6643125" cy="366183"/>
          </a:xfrm>
        </p:spPr>
        <p:txBody>
          <a:bodyPr/>
          <a:lstStyle>
            <a:lvl1pPr algn="l">
              <a:defRPr/>
            </a:lvl1pPr>
          </a:lstStyle>
          <a:p>
            <a:endParaRPr lang="de-DE" dirty="0"/>
          </a:p>
        </p:txBody>
      </p:sp>
      <p:sp>
        <p:nvSpPr>
          <p:cNvPr id="19" name="Foliennummernplatzhalter 18"/>
          <p:cNvSpPr>
            <a:spLocks noGrp="1"/>
          </p:cNvSpPr>
          <p:nvPr>
            <p:ph type="sldNum" sz="quarter" idx="12"/>
          </p:nvPr>
        </p:nvSpPr>
        <p:spPr>
          <a:xfrm>
            <a:off x="10704512" y="6382107"/>
            <a:ext cx="768085" cy="366183"/>
          </a:xfrm>
        </p:spPr>
        <p:txBody>
          <a:bodyPr/>
          <a:lstStyle/>
          <a:p>
            <a:fld id="{486EAB89-5AA3-EA4C-AA76-6885C17EBCE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Inhaltsplatzhalter 22"/>
          <p:cNvSpPr>
            <a:spLocks noGrp="1"/>
          </p:cNvSpPr>
          <p:nvPr>
            <p:ph sz="quarter" idx="13"/>
          </p:nvPr>
        </p:nvSpPr>
        <p:spPr>
          <a:xfrm>
            <a:off x="838200" y="1316766"/>
            <a:ext cx="10515600" cy="460851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800" b="0"/>
            </a:lvl1pPr>
            <a:lvl2pPr>
              <a:lnSpc>
                <a:spcPct val="90000"/>
              </a:lnSpc>
              <a:defRPr sz="2400"/>
            </a:lvl2pPr>
            <a:lvl3pPr>
              <a:lnSpc>
                <a:spcPct val="90000"/>
              </a:lnSpc>
              <a:defRPr sz="2133"/>
            </a:lvl3pPr>
            <a:lvl4pPr>
              <a:lnSpc>
                <a:spcPct val="90000"/>
              </a:lnSpc>
              <a:defRPr sz="1867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4792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1ED2B-C080-4D4C-96E4-F13916094505}" type="datetime1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23DDB-EC77-4CF2-B276-8C2EF4BC3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72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75" r:id="rId15"/>
    <p:sldLayoutId id="2147483720" r:id="rId16"/>
    <p:sldLayoutId id="2147483733" r:id="rId17"/>
    <p:sldLayoutId id="2147483734" r:id="rId18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8.svg"/><Relationship Id="rId7" Type="http://schemas.openxmlformats.org/officeDocument/2006/relationships/image" Target="../media/image9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Relationship Id="rId9" Type="http://schemas.openxmlformats.org/officeDocument/2006/relationships/image" Target="../media/image3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markus.radke@tu-berlin.de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-2644" y="3990835"/>
            <a:ext cx="12192000" cy="2232248"/>
          </a:xfrm>
        </p:spPr>
        <p:txBody>
          <a:bodyPr>
            <a:noAutofit/>
          </a:bodyPr>
          <a:lstStyle/>
          <a:p>
            <a:r>
              <a:rPr lang="en-US" sz="3600" dirty="0"/>
              <a:t>Genre-Discriminating Lyrical Patterns</a:t>
            </a:r>
            <a:br>
              <a:rPr lang="en-US" sz="3600" dirty="0"/>
            </a:br>
            <a:r>
              <a:rPr lang="en-US" sz="3600" dirty="0"/>
              <a:t>in Anglophone German Popular Music</a:t>
            </a:r>
            <a:br>
              <a:rPr lang="en-US" sz="2800" dirty="0"/>
            </a:br>
            <a:br>
              <a:rPr lang="de-DE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DE" sz="4800" dirty="0"/>
            </a:br>
            <a:endParaRPr lang="en-DE" sz="100" noProof="0" dirty="0">
              <a:solidFill>
                <a:schemeClr val="tx1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5345920"/>
            <a:ext cx="9144000" cy="584775"/>
          </a:xfrm>
        </p:spPr>
        <p:txBody>
          <a:bodyPr>
            <a:noAutofit/>
          </a:bodyPr>
          <a:lstStyle/>
          <a:p>
            <a:r>
              <a:rPr lang="de-DE" sz="2400" b="1" dirty="0">
                <a:solidFill>
                  <a:schemeClr val="tx1"/>
                </a:solidFill>
              </a:rPr>
              <a:t>Markus Radke</a:t>
            </a:r>
            <a:br>
              <a:rPr lang="de-DE" sz="2400" b="1" noProof="0" dirty="0">
                <a:solidFill>
                  <a:schemeClr val="tx1"/>
                </a:solidFill>
              </a:rPr>
            </a:br>
            <a:endParaRPr lang="de-DE" sz="2400" b="1" noProof="0" dirty="0">
              <a:solidFill>
                <a:schemeClr val="tx1"/>
              </a:solidFill>
            </a:endParaRPr>
          </a:p>
        </p:txBody>
      </p:sp>
      <p:sp>
        <p:nvSpPr>
          <p:cNvPr id="12" name="Textfeld 1"/>
          <p:cNvSpPr txBox="1">
            <a:spLocks noChangeArrowheads="1"/>
          </p:cNvSpPr>
          <p:nvPr/>
        </p:nvSpPr>
        <p:spPr bwMode="auto">
          <a:xfrm>
            <a:off x="1521356" y="5930696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de-DE" dirty="0">
                <a:latin typeface="Arial" panose="020B0604020202020204" pitchFamily="34" charset="0"/>
              </a:rPr>
              <a:t>Research Colloquium, Audio Communication Group</a:t>
            </a:r>
          </a:p>
          <a:p>
            <a:pPr algn="ctr" eaLnBrk="1" hangingPunct="1"/>
            <a:r>
              <a:rPr lang="de-DE" dirty="0">
                <a:latin typeface="Arial" panose="020B0604020202020204" pitchFamily="34" charset="0"/>
              </a:rPr>
              <a:t>Technische Universität Berlin, 23.04.2026</a:t>
            </a:r>
          </a:p>
        </p:txBody>
      </p:sp>
      <p:pic>
        <p:nvPicPr>
          <p:cNvPr id="14" name="Picture 2" descr="D:\TU Berlin\Logo CI\TU_Logo\TU_Logo_Langversion\FuerScreen\RGB\Rot\TU_Logo_lang_RGB_ro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380" y="116632"/>
            <a:ext cx="1440284" cy="80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TU Berlin\Logo CI\AK_Logo\logo_grau-schwarz_transparen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576" y="5972893"/>
            <a:ext cx="792026" cy="76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ore Than Words (Single) - Extreme - SensCritique">
            <a:extLst>
              <a:ext uri="{FF2B5EF4-FFF2-40B4-BE49-F238E27FC236}">
                <a16:creationId xmlns:a16="http://schemas.microsoft.com/office/drawing/2014/main" id="{699A3459-B226-B7C7-706E-07AC11FEF2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94"/>
          <a:stretch>
            <a:fillRect/>
          </a:stretch>
        </p:blipFill>
        <p:spPr bwMode="auto">
          <a:xfrm>
            <a:off x="4199198" y="634917"/>
            <a:ext cx="3793604" cy="321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24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B132-C962-ED06-DC80-0D7BBA88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708BA-C262-A653-9817-BEA38867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Lyrics </a:t>
            </a:r>
            <a:r>
              <a:rPr lang="de-DE" dirty="0" err="1"/>
              <a:t>encode</a:t>
            </a:r>
            <a:r>
              <a:rPr lang="de-DE" dirty="0"/>
              <a:t> </a:t>
            </a:r>
            <a:r>
              <a:rPr lang="de-DE" dirty="0" err="1"/>
              <a:t>popular</a:t>
            </a:r>
            <a:r>
              <a:rPr lang="de-DE" dirty="0"/>
              <a:t> </a:t>
            </a:r>
            <a:r>
              <a:rPr lang="de-DE" dirty="0" err="1"/>
              <a:t>music</a:t>
            </a:r>
            <a:r>
              <a:rPr lang="de-DE" dirty="0"/>
              <a:t> </a:t>
            </a:r>
            <a:r>
              <a:rPr lang="de-DE" dirty="0" err="1"/>
              <a:t>genre</a:t>
            </a:r>
            <a:r>
              <a:rPr lang="de-DE" dirty="0"/>
              <a:t> </a:t>
            </a:r>
            <a:r>
              <a:rPr lang="de-DE" dirty="0" err="1"/>
              <a:t>differences</a:t>
            </a:r>
            <a:endParaRPr lang="de-DE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CCE9DDE8-C8AD-38CD-98A5-627490022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aseline="30000" dirty="0"/>
              <a:t>1 </a:t>
            </a:r>
            <a:r>
              <a:rPr lang="en-US" dirty="0"/>
              <a:t>Fabbri (1982)   </a:t>
            </a:r>
            <a:r>
              <a:rPr lang="en-US" baseline="30000" dirty="0"/>
              <a:t>2 </a:t>
            </a:r>
            <a:r>
              <a:rPr lang="en-US" dirty="0"/>
              <a:t>Davies (1986)   </a:t>
            </a:r>
            <a:r>
              <a:rPr lang="en-US" baseline="30000" dirty="0"/>
              <a:t>3 </a:t>
            </a:r>
            <a:r>
              <a:rPr lang="en-US" dirty="0"/>
              <a:t>Frith (1986)   </a:t>
            </a:r>
            <a:r>
              <a:rPr lang="en-US" baseline="30000" dirty="0"/>
              <a:t>4 </a:t>
            </a:r>
            <a:r>
              <a:rPr lang="en-US" dirty="0"/>
              <a:t>Carbone et al. (2024)   </a:t>
            </a:r>
            <a:r>
              <a:rPr lang="en-US" baseline="30000" dirty="0"/>
              <a:t>5 </a:t>
            </a:r>
            <a:r>
              <a:rPr lang="en-US" dirty="0"/>
              <a:t>Betti et al. (2023)   </a:t>
            </a:r>
            <a:r>
              <a:rPr lang="en-US" baseline="30000" dirty="0"/>
              <a:t>6 </a:t>
            </a:r>
            <a:r>
              <a:rPr lang="en-US" dirty="0" err="1"/>
              <a:t>Schedl</a:t>
            </a:r>
            <a:r>
              <a:rPr lang="en-US" dirty="0"/>
              <a:t> (2019)   </a:t>
            </a:r>
            <a:r>
              <a:rPr lang="en-US" baseline="30000" dirty="0"/>
              <a:t>7 </a:t>
            </a:r>
            <a:r>
              <a:rPr lang="en-US" dirty="0" err="1"/>
              <a:t>Tsaptsinos</a:t>
            </a:r>
            <a:r>
              <a:rPr lang="en-US" dirty="0"/>
              <a:t> (2017)   </a:t>
            </a:r>
          </a:p>
          <a:p>
            <a:r>
              <a:rPr lang="en-US" baseline="30000" dirty="0"/>
              <a:t>8 </a:t>
            </a:r>
            <a:r>
              <a:rPr lang="en-US" dirty="0"/>
              <a:t>Mayer et al. (2008)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5107A14-1212-20E8-678D-F713BCF62331}"/>
              </a:ext>
            </a:extLst>
          </p:cNvPr>
          <p:cNvSpPr txBox="1"/>
          <p:nvPr/>
        </p:nvSpPr>
        <p:spPr>
          <a:xfrm>
            <a:off x="1746029" y="2712132"/>
            <a:ext cx="362989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Popular Music Genre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stylistic markers</a:t>
            </a:r>
            <a:r>
              <a:rPr lang="en-US" sz="2200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socio-cultural conventions</a:t>
            </a:r>
            <a:r>
              <a:rPr lang="en-US" sz="2200" baseline="30000" dirty="0"/>
              <a:t>2,3</a:t>
            </a:r>
          </a:p>
          <a:p>
            <a:endParaRPr lang="en-US" sz="22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CFEDEDD-3CB6-AA55-D4B3-55A4DCABD7D9}"/>
              </a:ext>
            </a:extLst>
          </p:cNvPr>
          <p:cNvSpPr txBox="1"/>
          <p:nvPr/>
        </p:nvSpPr>
        <p:spPr>
          <a:xfrm>
            <a:off x="8544272" y="2708920"/>
            <a:ext cx="21602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Lyrics</a:t>
            </a:r>
            <a:endParaRPr lang="en-US" sz="2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248B15F-B92A-5657-43CA-398E963790A0}"/>
              </a:ext>
            </a:extLst>
          </p:cNvPr>
          <p:cNvSpPr txBox="1"/>
          <p:nvPr/>
        </p:nvSpPr>
        <p:spPr>
          <a:xfrm>
            <a:off x="4986523" y="5135327"/>
            <a:ext cx="2880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Lyrics-Based </a:t>
            </a:r>
          </a:p>
          <a:p>
            <a:pPr algn="ctr"/>
            <a:r>
              <a:rPr lang="en-US" sz="2000" b="1" dirty="0"/>
              <a:t>Music Genre Recognition</a:t>
            </a:r>
            <a:r>
              <a:rPr lang="en-US" sz="2000" b="1" baseline="30000" dirty="0"/>
              <a:t>7,8</a:t>
            </a:r>
          </a:p>
        </p:txBody>
      </p:sp>
      <p:pic>
        <p:nvPicPr>
          <p:cNvPr id="7" name="Grafik 6" descr="Lupe mit einfarbiger Füllung">
            <a:extLst>
              <a:ext uri="{FF2B5EF4-FFF2-40B4-BE49-F238E27FC236}">
                <a16:creationId xmlns:a16="http://schemas.microsoft.com/office/drawing/2014/main" id="{7DE4940C-FDFC-56E1-C287-DA5A1185E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0352" y="4377126"/>
            <a:ext cx="646331" cy="646331"/>
          </a:xfrm>
          <a:prstGeom prst="rect">
            <a:avLst/>
          </a:prstGeom>
        </p:spPr>
      </p:pic>
      <p:pic>
        <p:nvPicPr>
          <p:cNvPr id="9" name="Grafik 8" descr="Zahnräder Silhouette">
            <a:extLst>
              <a:ext uri="{FF2B5EF4-FFF2-40B4-BE49-F238E27FC236}">
                <a16:creationId xmlns:a16="http://schemas.microsoft.com/office/drawing/2014/main" id="{EF5C4456-A1C8-2893-53CB-F9906EB4F3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2316" y="4310925"/>
            <a:ext cx="778732" cy="778732"/>
          </a:xfrm>
          <a:prstGeom prst="rect">
            <a:avLst/>
          </a:prstGeom>
        </p:spPr>
      </p:pic>
      <p:pic>
        <p:nvPicPr>
          <p:cNvPr id="11" name="Grafik 10" descr="Chatblase Silhouette">
            <a:extLst>
              <a:ext uri="{FF2B5EF4-FFF2-40B4-BE49-F238E27FC236}">
                <a16:creationId xmlns:a16="http://schemas.microsoft.com/office/drawing/2014/main" id="{EC6A383C-2C35-14D8-A9F8-B21C1F442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4272" y="1763414"/>
            <a:ext cx="914400" cy="914400"/>
          </a:xfrm>
          <a:prstGeom prst="rect">
            <a:avLst/>
          </a:prstGeom>
        </p:spPr>
      </p:pic>
      <p:pic>
        <p:nvPicPr>
          <p:cNvPr id="13" name="Grafik 12" descr="Disk Jockey männlich Silhouette">
            <a:extLst>
              <a:ext uri="{FF2B5EF4-FFF2-40B4-BE49-F238E27FC236}">
                <a16:creationId xmlns:a16="http://schemas.microsoft.com/office/drawing/2014/main" id="{0847CE7B-C5E0-CF37-67D6-EE210718A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0821" y="1698360"/>
            <a:ext cx="914400" cy="914400"/>
          </a:xfrm>
          <a:prstGeom prst="rect">
            <a:avLst/>
          </a:prstGeom>
        </p:spPr>
      </p:pic>
      <p:pic>
        <p:nvPicPr>
          <p:cNvPr id="15" name="Grafik 14" descr="Tanz Silhouette">
            <a:extLst>
              <a:ext uri="{FF2B5EF4-FFF2-40B4-BE49-F238E27FC236}">
                <a16:creationId xmlns:a16="http://schemas.microsoft.com/office/drawing/2014/main" id="{E14DA0FD-A23D-18B5-F94B-D37D0B75F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5536" y="1745568"/>
            <a:ext cx="914400" cy="914400"/>
          </a:xfrm>
          <a:prstGeom prst="rect">
            <a:avLst/>
          </a:prstGeom>
        </p:spPr>
      </p:pic>
      <p:pic>
        <p:nvPicPr>
          <p:cNvPr id="17" name="Grafik 16" descr="Notenschrift mit einfarbiger Füllung">
            <a:extLst>
              <a:ext uri="{FF2B5EF4-FFF2-40B4-BE49-F238E27FC236}">
                <a16:creationId xmlns:a16="http://schemas.microsoft.com/office/drawing/2014/main" id="{244D9923-6280-4A7A-4F04-88BAD56DA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46574" y="1745568"/>
            <a:ext cx="914400" cy="914400"/>
          </a:xfrm>
          <a:prstGeom prst="rect">
            <a:avLst/>
          </a:prstGeom>
        </p:spPr>
      </p:pic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87ED3714-D73D-F585-4628-315E9B62701A}"/>
              </a:ext>
            </a:extLst>
          </p:cNvPr>
          <p:cNvSpPr/>
          <p:nvPr/>
        </p:nvSpPr>
        <p:spPr>
          <a:xfrm>
            <a:off x="5038700" y="2707647"/>
            <a:ext cx="2828143" cy="514105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Encoded in</a:t>
            </a:r>
            <a:r>
              <a:rPr lang="en-US" sz="2000" baseline="30000" dirty="0">
                <a:solidFill>
                  <a:schemeClr val="tx1"/>
                </a:solidFill>
              </a:rPr>
              <a:t>4,5,6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2A62E0ED-060D-6A27-22C2-34AAF83282B6}"/>
              </a:ext>
            </a:extLst>
          </p:cNvPr>
          <p:cNvCxnSpPr/>
          <p:nvPr/>
        </p:nvCxnSpPr>
        <p:spPr>
          <a:xfrm flipV="1">
            <a:off x="6384032" y="3562177"/>
            <a:ext cx="0" cy="72133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72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06E3D-F827-B7AA-A642-775174655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C0E2DA-9718-4895-EBFC-ECB4F1C3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Explanation</a:t>
            </a:r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B3B16AC0-DA29-9832-CD6F-D779C4EA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aseline="30000" dirty="0"/>
              <a:t>1 </a:t>
            </a:r>
            <a:r>
              <a:rPr lang="en-US" dirty="0"/>
              <a:t>Devlin (2019)   </a:t>
            </a:r>
            <a:r>
              <a:rPr lang="en-US" baseline="30000" dirty="0"/>
              <a:t>2 </a:t>
            </a:r>
            <a:r>
              <a:rPr lang="en-US" dirty="0"/>
              <a:t>Liu et al. (2019) </a:t>
            </a:r>
            <a:r>
              <a:rPr lang="en-US" baseline="30000" dirty="0"/>
              <a:t>  3 </a:t>
            </a:r>
            <a:r>
              <a:rPr lang="en-US" dirty="0"/>
              <a:t>Sanh et al. (2019)   </a:t>
            </a:r>
            <a:r>
              <a:rPr lang="en-US" baseline="30000" dirty="0"/>
              <a:t>4 </a:t>
            </a:r>
            <a:r>
              <a:rPr lang="en-US" dirty="0" err="1"/>
              <a:t>Gardazi</a:t>
            </a:r>
            <a:r>
              <a:rPr lang="en-US" dirty="0"/>
              <a:t> (2025)   </a:t>
            </a:r>
            <a:r>
              <a:rPr lang="en-US" baseline="30000" dirty="0"/>
              <a:t>5 </a:t>
            </a:r>
            <a:r>
              <a:rPr lang="en-US" dirty="0" err="1"/>
              <a:t>Tsapstinos</a:t>
            </a:r>
            <a:r>
              <a:rPr lang="en-US" dirty="0"/>
              <a:t> (2017)   </a:t>
            </a:r>
            <a:r>
              <a:rPr lang="en-US" baseline="30000" dirty="0"/>
              <a:t>6 </a:t>
            </a:r>
            <a:r>
              <a:rPr lang="en-US" dirty="0"/>
              <a:t>Škrlj et al. (2021)    </a:t>
            </a:r>
          </a:p>
          <a:p>
            <a:r>
              <a:rPr lang="en-US" baseline="30000" dirty="0"/>
              <a:t>7 </a:t>
            </a:r>
            <a:r>
              <a:rPr lang="en-US" dirty="0"/>
              <a:t>Molnar &amp; Freiesleben (2024)   </a:t>
            </a:r>
            <a:r>
              <a:rPr lang="en-US" baseline="30000" dirty="0"/>
              <a:t>8 </a:t>
            </a:r>
            <a:r>
              <a:rPr lang="en-US" dirty="0"/>
              <a:t>Rudin (2019)   </a:t>
            </a:r>
            <a:r>
              <a:rPr lang="en-US" baseline="30000" dirty="0"/>
              <a:t>9 </a:t>
            </a:r>
            <a:r>
              <a:rPr lang="en-US" dirty="0"/>
              <a:t>Sturm (2014)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68DF245-069C-5973-4DED-C65A605458BF}"/>
              </a:ext>
            </a:extLst>
          </p:cNvPr>
          <p:cNvSpPr txBox="1"/>
          <p:nvPr/>
        </p:nvSpPr>
        <p:spPr>
          <a:xfrm>
            <a:off x="2278749" y="1329676"/>
            <a:ext cx="3629891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Pretrained LLMs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such as BERT</a:t>
            </a:r>
            <a:r>
              <a:rPr lang="en-US" sz="2000" baseline="30000" dirty="0"/>
              <a:t>1</a:t>
            </a:r>
            <a:r>
              <a:rPr lang="en-US" sz="2000" dirty="0"/>
              <a:t>, RoBERTa</a:t>
            </a:r>
            <a:r>
              <a:rPr lang="en-US" sz="2000" baseline="30000" dirty="0"/>
              <a:t>2</a:t>
            </a:r>
            <a:r>
              <a:rPr lang="en-US" sz="2000" dirty="0"/>
              <a:t>, DistilBERT</a:t>
            </a:r>
            <a:r>
              <a:rPr lang="en-US" sz="2000" baseline="30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intransparent</a:t>
            </a:r>
            <a:r>
              <a:rPr lang="en-US" sz="2000" dirty="0"/>
              <a:t> word embeddings</a:t>
            </a:r>
            <a:r>
              <a:rPr lang="en-US" sz="2000" baseline="30000" dirty="0"/>
              <a:t>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baseline="30000" dirty="0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27EB545F-4674-F534-48F4-C28355CC6720}"/>
              </a:ext>
            </a:extLst>
          </p:cNvPr>
          <p:cNvCxnSpPr>
            <a:cxnSpLocks/>
          </p:cNvCxnSpPr>
          <p:nvPr/>
        </p:nvCxnSpPr>
        <p:spPr>
          <a:xfrm flipV="1">
            <a:off x="1991544" y="1321373"/>
            <a:ext cx="0" cy="4536504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20ED421-B8D2-F0BF-78CD-9A75B914D2CD}"/>
              </a:ext>
            </a:extLst>
          </p:cNvPr>
          <p:cNvCxnSpPr>
            <a:cxnSpLocks/>
          </p:cNvCxnSpPr>
          <p:nvPr/>
        </p:nvCxnSpPr>
        <p:spPr>
          <a:xfrm>
            <a:off x="1991544" y="5857877"/>
            <a:ext cx="8712968" cy="0"/>
          </a:xfrm>
          <a:prstGeom prst="straightConnector1">
            <a:avLst/>
          </a:prstGeom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63583BAC-032F-13E1-5FAE-15099ADCC773}"/>
              </a:ext>
            </a:extLst>
          </p:cNvPr>
          <p:cNvSpPr txBox="1"/>
          <p:nvPr/>
        </p:nvSpPr>
        <p:spPr>
          <a:xfrm>
            <a:off x="8311055" y="2527890"/>
            <a:ext cx="362989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Interpretable Models/Features?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cultural insights</a:t>
            </a:r>
            <a:r>
              <a:rPr lang="en-US" sz="2200" baseline="30000" dirty="0"/>
              <a:t>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robust and trustworthy deployment</a:t>
            </a:r>
            <a:r>
              <a:rPr lang="en-US" sz="2200" baseline="30000" dirty="0"/>
              <a:t>8,9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C9E5362-1974-7FF0-91C4-37168954C22C}"/>
              </a:ext>
            </a:extLst>
          </p:cNvPr>
          <p:cNvSpPr txBox="1"/>
          <p:nvPr/>
        </p:nvSpPr>
        <p:spPr>
          <a:xfrm>
            <a:off x="6816080" y="5891671"/>
            <a:ext cx="4687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Interpretability and Transparency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4C4D19B-9F0B-129A-F702-4B019CA1073E}"/>
              </a:ext>
            </a:extLst>
          </p:cNvPr>
          <p:cNvSpPr txBox="1"/>
          <p:nvPr/>
        </p:nvSpPr>
        <p:spPr>
          <a:xfrm>
            <a:off x="263352" y="1306142"/>
            <a:ext cx="36298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Prediction</a:t>
            </a:r>
          </a:p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Performance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7E76270-2D0E-B738-FC75-5127F1D991C8}"/>
              </a:ext>
            </a:extLst>
          </p:cNvPr>
          <p:cNvSpPr txBox="1"/>
          <p:nvPr/>
        </p:nvSpPr>
        <p:spPr>
          <a:xfrm>
            <a:off x="4799029" y="2109376"/>
            <a:ext cx="36298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Deep Learning with</a:t>
            </a:r>
          </a:p>
          <a:p>
            <a:r>
              <a:rPr lang="en-US" sz="2200" b="1" dirty="0"/>
              <a:t>Attention Visualization</a:t>
            </a:r>
            <a:r>
              <a:rPr lang="en-US" sz="2200" b="1" baseline="30000" dirty="0"/>
              <a:t>5,6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single-token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20676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6714-1E18-1955-B6D2-8DBA5DB7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2FF02-3CA9-C775-FE1F-68504F72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Investigate</a:t>
            </a:r>
            <a:r>
              <a:rPr lang="de-DE" dirty="0"/>
              <a:t> </a:t>
            </a:r>
            <a:r>
              <a:rPr lang="de-DE" dirty="0" err="1"/>
              <a:t>Lyrical</a:t>
            </a:r>
            <a:r>
              <a:rPr lang="de-DE" dirty="0"/>
              <a:t> Style</a:t>
            </a:r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96E3BDB6-5209-63B2-EC37-5ABF41CE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aseline="30000" dirty="0"/>
              <a:t>1</a:t>
            </a:r>
            <a:r>
              <a:rPr lang="en-US" dirty="0"/>
              <a:t> </a:t>
            </a:r>
            <a:r>
              <a:rPr lang="en-US" dirty="0" err="1"/>
              <a:t>Schedl</a:t>
            </a:r>
            <a:r>
              <a:rPr lang="en-US" dirty="0"/>
              <a:t> (2019)   </a:t>
            </a:r>
            <a:r>
              <a:rPr lang="en-US" baseline="30000" dirty="0"/>
              <a:t>2 </a:t>
            </a:r>
            <a:r>
              <a:rPr lang="en-US" dirty="0"/>
              <a:t>Muzambi et al. (2026)   </a:t>
            </a:r>
            <a:r>
              <a:rPr lang="en-US" baseline="30000" dirty="0"/>
              <a:t>3 </a:t>
            </a:r>
            <a:r>
              <a:rPr lang="en-US" dirty="0" err="1"/>
              <a:t>Mayerl</a:t>
            </a:r>
            <a:r>
              <a:rPr lang="en-US" dirty="0"/>
              <a:t> et al. (2020)   </a:t>
            </a:r>
            <a:r>
              <a:rPr lang="en-US" baseline="30000" dirty="0"/>
              <a:t>4 </a:t>
            </a:r>
            <a:r>
              <a:rPr lang="en-US" dirty="0"/>
              <a:t>Fell &amp; Sporleder (2014)   </a:t>
            </a:r>
            <a:r>
              <a:rPr lang="en-US" baseline="30000" dirty="0"/>
              <a:t>5 </a:t>
            </a:r>
            <a:r>
              <a:rPr lang="en-US" dirty="0"/>
              <a:t>Kreyer &amp; Mukherjee (2007)   </a:t>
            </a:r>
          </a:p>
          <a:p>
            <a:r>
              <a:rPr lang="en-US" baseline="30000" dirty="0"/>
              <a:t>6 </a:t>
            </a:r>
            <a:r>
              <a:rPr lang="en-US" dirty="0"/>
              <a:t>Bansal et al. (2025)   </a:t>
            </a:r>
            <a:r>
              <a:rPr lang="en-US" baseline="30000" dirty="0"/>
              <a:t>7 </a:t>
            </a:r>
            <a:r>
              <a:rPr lang="en-US" dirty="0"/>
              <a:t>Napier &amp; Shamir (2018) </a:t>
            </a:r>
            <a:r>
              <a:rPr lang="en-US" baseline="30000" dirty="0"/>
              <a:t>8 </a:t>
            </a:r>
            <a:r>
              <a:rPr lang="en-US" dirty="0"/>
              <a:t>Stoia (2020)  </a:t>
            </a:r>
            <a:r>
              <a:rPr lang="en-US" baseline="30000" dirty="0"/>
              <a:t>9 </a:t>
            </a:r>
            <a:r>
              <a:rPr lang="en-US" dirty="0"/>
              <a:t>Knauf (2025) </a:t>
            </a:r>
            <a:r>
              <a:rPr lang="en-US" baseline="30000" dirty="0"/>
              <a:t>10 </a:t>
            </a:r>
            <a:r>
              <a:rPr lang="en-US" dirty="0"/>
              <a:t>Wray &amp; Perkins (2000)   </a:t>
            </a:r>
            <a:r>
              <a:rPr lang="en-US" baseline="30000" dirty="0"/>
              <a:t>11 </a:t>
            </a:r>
            <a:r>
              <a:rPr lang="en-US" dirty="0"/>
              <a:t>Amin et al. (2021)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6F6B73F-5DB1-931B-0701-0AA534702843}"/>
              </a:ext>
            </a:extLst>
          </p:cNvPr>
          <p:cNvSpPr txBox="1"/>
          <p:nvPr/>
        </p:nvSpPr>
        <p:spPr>
          <a:xfrm>
            <a:off x="467820" y="2550829"/>
            <a:ext cx="43204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Often emphasized interpretable formal structural features</a:t>
            </a:r>
            <a:r>
              <a:rPr lang="en-US" sz="2200" b="1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1,2,3,4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textual statistics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rhymes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lexical descriptors</a:t>
            </a:r>
          </a:p>
          <a:p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50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492A-04EE-EC0E-DABB-D385BD23B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12A219-BE8F-FE53-A36A-6F8576C30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Investigate</a:t>
            </a:r>
            <a:r>
              <a:rPr lang="de-DE" dirty="0"/>
              <a:t> </a:t>
            </a:r>
            <a:r>
              <a:rPr lang="de-DE" dirty="0" err="1"/>
              <a:t>Lyrical</a:t>
            </a:r>
            <a:r>
              <a:rPr lang="de-DE" dirty="0"/>
              <a:t> Style</a:t>
            </a:r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36C98861-AC99-EAFC-B31E-F8D33CC7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aseline="30000" dirty="0"/>
              <a:t>1</a:t>
            </a:r>
            <a:r>
              <a:rPr lang="en-US" dirty="0"/>
              <a:t> </a:t>
            </a:r>
            <a:r>
              <a:rPr lang="en-US" dirty="0" err="1"/>
              <a:t>Schedl</a:t>
            </a:r>
            <a:r>
              <a:rPr lang="en-US" dirty="0"/>
              <a:t> (2019)   </a:t>
            </a:r>
            <a:r>
              <a:rPr lang="en-US" baseline="30000" dirty="0"/>
              <a:t>2 </a:t>
            </a:r>
            <a:r>
              <a:rPr lang="en-US" dirty="0"/>
              <a:t>Muzambi et al. (2026)   </a:t>
            </a:r>
            <a:r>
              <a:rPr lang="en-US" baseline="30000" dirty="0"/>
              <a:t>3 </a:t>
            </a:r>
            <a:r>
              <a:rPr lang="en-US" dirty="0" err="1"/>
              <a:t>Mayerl</a:t>
            </a:r>
            <a:r>
              <a:rPr lang="en-US" dirty="0"/>
              <a:t> et al. (2020)   </a:t>
            </a:r>
            <a:r>
              <a:rPr lang="en-US" baseline="30000" dirty="0"/>
              <a:t>4 </a:t>
            </a:r>
            <a:r>
              <a:rPr lang="en-US" dirty="0"/>
              <a:t>Fell &amp; Sporleder (2014)   </a:t>
            </a:r>
            <a:r>
              <a:rPr lang="en-US" baseline="30000" dirty="0"/>
              <a:t>5 </a:t>
            </a:r>
            <a:r>
              <a:rPr lang="en-US" dirty="0"/>
              <a:t>Kreyer &amp; Mukherjee (2007)   </a:t>
            </a:r>
          </a:p>
          <a:p>
            <a:r>
              <a:rPr lang="en-US" baseline="30000" dirty="0"/>
              <a:t>6 </a:t>
            </a:r>
            <a:r>
              <a:rPr lang="en-US" dirty="0"/>
              <a:t>Bansal et al. (2025)   </a:t>
            </a:r>
            <a:r>
              <a:rPr lang="en-US" baseline="30000" dirty="0"/>
              <a:t>7 </a:t>
            </a:r>
            <a:r>
              <a:rPr lang="en-US" dirty="0"/>
              <a:t>Napier &amp; Shamir (2018)   </a:t>
            </a:r>
            <a:r>
              <a:rPr lang="en-US" baseline="30000" dirty="0"/>
              <a:t>8 </a:t>
            </a:r>
            <a:r>
              <a:rPr lang="en-US" dirty="0"/>
              <a:t>Stoia (2020)   </a:t>
            </a:r>
            <a:r>
              <a:rPr lang="en-US" baseline="30000" dirty="0"/>
              <a:t>9 </a:t>
            </a:r>
            <a:r>
              <a:rPr lang="en-US" dirty="0"/>
              <a:t>Wray &amp; Perkins (2000)   </a:t>
            </a:r>
            <a:r>
              <a:rPr lang="en-US" baseline="30000" dirty="0"/>
              <a:t>10 </a:t>
            </a:r>
            <a:r>
              <a:rPr lang="en-US" dirty="0"/>
              <a:t>Amin et al. (2021)   </a:t>
            </a:r>
            <a:r>
              <a:rPr lang="en-US" baseline="30000" dirty="0"/>
              <a:t>11 </a:t>
            </a:r>
            <a:r>
              <a:rPr lang="en-US" dirty="0"/>
              <a:t>Knauf (2025) 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290B7F9-2295-DCE7-9F23-AF0C9DC381D7}"/>
              </a:ext>
            </a:extLst>
          </p:cNvPr>
          <p:cNvSpPr txBox="1"/>
          <p:nvPr/>
        </p:nvSpPr>
        <p:spPr>
          <a:xfrm>
            <a:off x="467820" y="2550829"/>
            <a:ext cx="43204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>
                    <a:lumMod val="75000"/>
                  </a:schemeClr>
                </a:solidFill>
              </a:rPr>
              <a:t>Often emphasized interpretable formal structural features</a:t>
            </a:r>
            <a:r>
              <a:rPr lang="en-US" sz="2200" b="1" baseline="30000" dirty="0">
                <a:solidFill>
                  <a:schemeClr val="bg1">
                    <a:lumMod val="75000"/>
                  </a:schemeClr>
                </a:solidFill>
              </a:rPr>
              <a:t>1,2,3,4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textual statistics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rhymes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lexical descriptors</a:t>
            </a:r>
          </a:p>
          <a:p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58E419A-8596-B399-0883-3863BB2D066D}"/>
              </a:ext>
            </a:extLst>
          </p:cNvPr>
          <p:cNvSpPr txBox="1"/>
          <p:nvPr/>
        </p:nvSpPr>
        <p:spPr>
          <a:xfrm>
            <a:off x="6287344" y="1484784"/>
            <a:ext cx="59046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Lyrical Style</a:t>
            </a:r>
            <a:r>
              <a:rPr lang="en-US" sz="2200" b="1" baseline="30000" dirty="0"/>
              <a:t>5</a:t>
            </a:r>
          </a:p>
          <a:p>
            <a:endParaRPr lang="en-US" sz="2200" dirty="0"/>
          </a:p>
          <a:p>
            <a:r>
              <a:rPr lang="en-US" sz="2200" dirty="0"/>
              <a:t>topics</a:t>
            </a:r>
            <a:r>
              <a:rPr lang="en-US" sz="2200" baseline="30000" dirty="0"/>
              <a:t>6</a:t>
            </a:r>
          </a:p>
          <a:p>
            <a:endParaRPr lang="en-US" sz="2200" dirty="0"/>
          </a:p>
          <a:p>
            <a:r>
              <a:rPr lang="en-US" sz="2200" dirty="0"/>
              <a:t>sentiments</a:t>
            </a:r>
            <a:r>
              <a:rPr lang="en-US" sz="2200" baseline="30000" dirty="0"/>
              <a:t>7</a:t>
            </a:r>
          </a:p>
          <a:p>
            <a:endParaRPr lang="en-US" sz="2200" dirty="0"/>
          </a:p>
          <a:p>
            <a:r>
              <a:rPr lang="en-US" sz="2200" dirty="0"/>
              <a:t>formulaic expressions</a:t>
            </a:r>
            <a:r>
              <a:rPr lang="en-US" sz="2200" baseline="30000" dirty="0"/>
              <a:t>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multiword expressions</a:t>
            </a:r>
            <a:r>
              <a:rPr lang="en-US" sz="2200" baseline="30000" dirty="0"/>
              <a:t>9,10,</a:t>
            </a:r>
            <a:br>
              <a:rPr lang="en-US" sz="2200" dirty="0"/>
            </a:br>
            <a:r>
              <a:rPr lang="en-US" sz="2200" dirty="0"/>
              <a:t>(common collocations, idioms)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single words</a:t>
            </a:r>
            <a:r>
              <a:rPr lang="en-US" sz="2200" baseline="30000" dirty="0"/>
              <a:t>4,5</a:t>
            </a:r>
            <a:br>
              <a:rPr lang="en-US" sz="2200" dirty="0"/>
            </a:br>
            <a:r>
              <a:rPr lang="en-US" sz="2200" dirty="0"/>
              <a:t>(slang, spelling, lexical words)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vocalizations</a:t>
            </a:r>
            <a:r>
              <a:rPr lang="en-US" sz="2200" baseline="30000" dirty="0"/>
              <a:t>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94233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0E080D-7C7F-5205-41B1-7CD97A14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Research Questions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D2D6F7-7A66-30D9-D645-EE9331C96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>
                <a:solidFill>
                  <a:schemeClr val="bg1">
                    <a:lumMod val="50000"/>
                  </a:schemeClr>
                </a:solidFill>
              </a:rPr>
              <a:t>RQ1: </a:t>
            </a:r>
            <a:r>
              <a:rPr lang="en-US" sz="2400" dirty="0"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Which</a:t>
            </a:r>
            <a:r>
              <a:rPr lang="en-US" sz="2400" b="0" dirty="0"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dirty="0"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lyrical style patterns </a:t>
            </a:r>
            <a:r>
              <a:rPr lang="en-US" sz="24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(topics, sentiments, formulaic expressions) </a:t>
            </a: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discriminate genres </a:t>
            </a:r>
            <a:r>
              <a:rPr lang="en-US" sz="24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Anglophone German popular music?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b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38C6C2-2952-4EC4-AA74-FA907B4F8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Grafik 6" descr="Roboter Silhouette">
            <a:extLst>
              <a:ext uri="{FF2B5EF4-FFF2-40B4-BE49-F238E27FC236}">
                <a16:creationId xmlns:a16="http://schemas.microsoft.com/office/drawing/2014/main" id="{54FF983F-3DD5-7102-7533-4A25F4B3D0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6408" y="2700557"/>
            <a:ext cx="912101" cy="912101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150F06A-B000-2FC8-8BA5-9DC3222939AF}"/>
              </a:ext>
            </a:extLst>
          </p:cNvPr>
          <p:cNvGrpSpPr/>
          <p:nvPr/>
        </p:nvGrpSpPr>
        <p:grpSpPr>
          <a:xfrm>
            <a:off x="436658" y="811184"/>
            <a:ext cx="1053984" cy="768566"/>
            <a:chOff x="436658" y="811184"/>
            <a:chExt cx="1053984" cy="768566"/>
          </a:xfrm>
        </p:grpSpPr>
        <p:pic>
          <p:nvPicPr>
            <p:cNvPr id="14" name="Grafik 13" descr="Chatblase Silhouette">
              <a:extLst>
                <a:ext uri="{FF2B5EF4-FFF2-40B4-BE49-F238E27FC236}">
                  <a16:creationId xmlns:a16="http://schemas.microsoft.com/office/drawing/2014/main" id="{C4FD5115-98BF-32E5-83A5-63F404E28B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872458" y="811184"/>
              <a:ext cx="618184" cy="618184"/>
            </a:xfrm>
            <a:prstGeom prst="rect">
              <a:avLst/>
            </a:prstGeom>
          </p:spPr>
        </p:pic>
        <p:pic>
          <p:nvPicPr>
            <p:cNvPr id="16" name="Grafik 15" descr="Mikrofon mit einfarbiger Füllung">
              <a:extLst>
                <a:ext uri="{FF2B5EF4-FFF2-40B4-BE49-F238E27FC236}">
                  <a16:creationId xmlns:a16="http://schemas.microsoft.com/office/drawing/2014/main" id="{FF5A870A-94A3-3C7C-97E7-C98A63BDEB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6658" y="985422"/>
              <a:ext cx="594328" cy="594328"/>
            </a:xfrm>
            <a:prstGeom prst="rect">
              <a:avLst/>
            </a:prstGeom>
          </p:spPr>
        </p:pic>
      </p:grpSp>
      <p:pic>
        <p:nvPicPr>
          <p:cNvPr id="19" name="Grafik 18" descr="Idee Silhouette">
            <a:extLst>
              <a:ext uri="{FF2B5EF4-FFF2-40B4-BE49-F238E27FC236}">
                <a16:creationId xmlns:a16="http://schemas.microsoft.com/office/drawing/2014/main" id="{9B66B9D8-4D5E-1EC9-20FE-68383FF0E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086" y="4600104"/>
            <a:ext cx="698370" cy="698370"/>
          </a:xfrm>
          <a:prstGeom prst="rect">
            <a:avLst/>
          </a:prstGeom>
        </p:spPr>
      </p:pic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37D2BDC-2ECD-E6C7-F4F1-B6F1BB86F92B}"/>
              </a:ext>
            </a:extLst>
          </p:cNvPr>
          <p:cNvSpPr txBox="1">
            <a:spLocks/>
          </p:cNvSpPr>
          <p:nvPr/>
        </p:nvSpPr>
        <p:spPr>
          <a:xfrm>
            <a:off x="468429" y="2754722"/>
            <a:ext cx="11292199" cy="1529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de-DE" sz="2400" dirty="0"/>
          </a:p>
          <a:p>
            <a:pPr marL="0" indent="0">
              <a:buFont typeface="Arial" pitchFamily="34" charset="0"/>
              <a:buNone/>
            </a:pPr>
            <a:endParaRPr lang="de-DE" sz="2400" dirty="0"/>
          </a:p>
          <a:p>
            <a:pPr marL="0" indent="0">
              <a:buFont typeface="Arial" pitchFamily="34" charset="0"/>
              <a:buNone/>
            </a:pPr>
            <a:r>
              <a:rPr lang="de-DE" sz="2400" dirty="0">
                <a:solidFill>
                  <a:schemeClr val="bg1">
                    <a:lumMod val="50000"/>
                  </a:schemeClr>
                </a:solidFill>
              </a:rPr>
              <a:t>RQ2: </a:t>
            </a: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To what extent </a:t>
            </a:r>
            <a:r>
              <a:rPr lang="en-US" sz="24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 style-based </a:t>
            </a: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interpretable ML models match a fine-tuned DistilBERT LLM baseline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 lyrics-based music genre prediction?</a:t>
            </a:r>
            <a:endParaRPr lang="de-DE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de-DE" sz="2400" dirty="0"/>
          </a:p>
          <a:p>
            <a:pPr marL="0" indent="0">
              <a:buFont typeface="Arial" pitchFamily="34" charset="0"/>
              <a:buNone/>
            </a:pPr>
            <a:endParaRPr lang="de-DE" sz="2400" b="0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1B8F3CC-9139-4E30-EEA2-42430A87A213}"/>
              </a:ext>
            </a:extLst>
          </p:cNvPr>
          <p:cNvSpPr txBox="1">
            <a:spLocks/>
          </p:cNvSpPr>
          <p:nvPr/>
        </p:nvSpPr>
        <p:spPr>
          <a:xfrm>
            <a:off x="491108" y="4432117"/>
            <a:ext cx="11292199" cy="9121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de-DE" sz="2400" dirty="0"/>
          </a:p>
          <a:p>
            <a:pPr marL="0" indent="0">
              <a:buFont typeface="Arial" pitchFamily="34" charset="0"/>
              <a:buNone/>
            </a:pPr>
            <a:endParaRPr lang="de-DE" sz="2400" dirty="0"/>
          </a:p>
          <a:p>
            <a:pPr marL="0" indent="0">
              <a:buFont typeface="Arial" pitchFamily="34" charset="0"/>
              <a:buNone/>
            </a:pPr>
            <a:r>
              <a:rPr lang="de-DE" sz="2400" dirty="0">
                <a:solidFill>
                  <a:schemeClr val="bg1">
                    <a:lumMod val="50000"/>
                  </a:schemeClr>
                </a:solidFill>
              </a:rPr>
              <a:t>RQ3: </a:t>
            </a: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What</a:t>
            </a:r>
            <a:r>
              <a:rPr lang="en-US" sz="24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can we </a:t>
            </a:r>
            <a:r>
              <a:rPr lang="en-US" sz="2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learn about style-related lyrical genre differences </a:t>
            </a:r>
            <a:r>
              <a:rPr lang="en-US" sz="24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from such interpretative models for popular music studies?</a:t>
            </a:r>
          </a:p>
          <a:p>
            <a:pPr marL="0" indent="0">
              <a:buFont typeface="Arial" pitchFamily="34" charset="0"/>
              <a:buNone/>
            </a:pPr>
            <a:endParaRPr lang="de-DE" sz="2400" b="0" dirty="0"/>
          </a:p>
        </p:txBody>
      </p:sp>
    </p:spTree>
    <p:extLst>
      <p:ext uri="{BB962C8B-B14F-4D97-AF65-F5344CB8AC3E}">
        <p14:creationId xmlns:p14="http://schemas.microsoft.com/office/powerpoint/2010/main" val="237708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18E28-6AE4-26A8-45FF-10296A81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MEthods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ED949D-51CA-723C-E74B-19887ACC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2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2F19F-2DA6-6AD0-30EE-639F1D0D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leichschenkliges Dreieck 53">
            <a:extLst>
              <a:ext uri="{FF2B5EF4-FFF2-40B4-BE49-F238E27FC236}">
                <a16:creationId xmlns:a16="http://schemas.microsoft.com/office/drawing/2014/main" id="{43EF314E-0800-1C51-B6DF-FEDD86C988E2}"/>
              </a:ext>
            </a:extLst>
          </p:cNvPr>
          <p:cNvSpPr/>
          <p:nvPr/>
        </p:nvSpPr>
        <p:spPr>
          <a:xfrm rot="5400000">
            <a:off x="3390174" y="4836302"/>
            <a:ext cx="2016224" cy="594327"/>
          </a:xfrm>
          <a:prstGeom prst="triangl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5BF023-0C3C-3E6D-1186-3B9B9491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Corpus: </a:t>
            </a:r>
            <a:r>
              <a:rPr lang="en-US" dirty="0"/>
              <a:t>Popular-Tracks-In-Germany Data Set (POPTRAG)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4DB1EDD-36BA-B893-41E9-AE0A3486BF1A}"/>
              </a:ext>
            </a:extLst>
          </p:cNvPr>
          <p:cNvSpPr/>
          <p:nvPr/>
        </p:nvSpPr>
        <p:spPr>
          <a:xfrm>
            <a:off x="496410" y="868965"/>
            <a:ext cx="7416824" cy="1800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>
                <a:solidFill>
                  <a:schemeClr val="tx1"/>
                </a:solidFill>
              </a:rPr>
              <a:t>Webscraping</a:t>
            </a:r>
            <a:r>
              <a:rPr lang="en-US" sz="2000" b="1" dirty="0">
                <a:solidFill>
                  <a:schemeClr val="tx1"/>
                </a:solidFill>
              </a:rPr>
              <a:t> and APIs</a:t>
            </a:r>
          </a:p>
          <a:p>
            <a:r>
              <a:rPr lang="en-US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MediaControl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Album- and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Singlecharts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(1977-2024) 	215,702 tracks </a:t>
            </a:r>
          </a:p>
          <a:p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Spotify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-Recommendations for Germany (2024) 	</a:t>
            </a:r>
            <a:r>
              <a:rPr lang="en-US" sz="2000" dirty="0">
                <a:solidFill>
                  <a:schemeClr val="bg1"/>
                </a:solidFill>
              </a:rPr>
              <a:t>0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26,949 tracks</a:t>
            </a:r>
          </a:p>
          <a:p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Spotify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Daily 200 Charts (2017-2024) 		</a:t>
            </a:r>
            <a:r>
              <a:rPr lang="en-US" sz="2000" dirty="0">
                <a:solidFill>
                  <a:schemeClr val="bg1"/>
                </a:solidFill>
              </a:rPr>
              <a:t>0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8,801 tracks</a:t>
            </a:r>
          </a:p>
          <a:p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Spotify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Featured Playlists Germany (2024)	 	</a:t>
            </a:r>
            <a:r>
              <a:rPr lang="en-US" sz="2000" dirty="0">
                <a:solidFill>
                  <a:schemeClr val="bg1"/>
                </a:solidFill>
              </a:rPr>
              <a:t>0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11,994 tracks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53EF0E2-542D-B936-CDA6-23D86912813E}"/>
              </a:ext>
            </a:extLst>
          </p:cNvPr>
          <p:cNvSpPr/>
          <p:nvPr/>
        </p:nvSpPr>
        <p:spPr>
          <a:xfrm>
            <a:off x="7997190" y="5282407"/>
            <a:ext cx="3516390" cy="59432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50E1F"/>
                </a:solidFill>
              </a:rPr>
              <a:t>N = 126,042 tracks</a:t>
            </a:r>
          </a:p>
          <a:p>
            <a:r>
              <a:rPr lang="en-US" sz="2400" b="1" dirty="0">
                <a:solidFill>
                  <a:srgbClr val="C50E1F"/>
                </a:solidFill>
              </a:rPr>
              <a:t>9 music genres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562939C-6566-988B-B54C-C53423F2BB99}"/>
              </a:ext>
            </a:extLst>
          </p:cNvPr>
          <p:cNvSpPr/>
          <p:nvPr/>
        </p:nvSpPr>
        <p:spPr>
          <a:xfrm>
            <a:off x="559435" y="3614058"/>
            <a:ext cx="3516390" cy="279432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English lyrics from </a:t>
            </a:r>
            <a:r>
              <a:rPr lang="en-US" sz="2000" b="1" i="1" dirty="0">
                <a:solidFill>
                  <a:schemeClr val="tx1"/>
                </a:solidFill>
              </a:rPr>
              <a:t>Genius </a:t>
            </a:r>
            <a:r>
              <a:rPr lang="en-US" sz="2000" b="1" dirty="0">
                <a:solidFill>
                  <a:schemeClr val="tx1"/>
                </a:solidFill>
              </a:rPr>
              <a:t>and release genres from </a:t>
            </a:r>
            <a:r>
              <a:rPr lang="en-US" sz="2000" b="1" i="1" dirty="0">
                <a:solidFill>
                  <a:schemeClr val="tx1"/>
                </a:solidFill>
              </a:rPr>
              <a:t>Discogs </a:t>
            </a:r>
            <a:r>
              <a:rPr lang="en-US" sz="2000" b="1" dirty="0">
                <a:solidFill>
                  <a:schemeClr val="tx1"/>
                </a:solidFill>
              </a:rPr>
              <a:t>(51%)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</a:p>
          <a:p>
            <a:r>
              <a:rPr lang="en-US" sz="2000" dirty="0">
                <a:solidFill>
                  <a:schemeClr val="tx1"/>
                </a:solidFill>
              </a:rPr>
              <a:t>Multilabel </a:t>
            </a:r>
            <a:r>
              <a:rPr lang="en-US" sz="2000" i="1" dirty="0">
                <a:solidFill>
                  <a:schemeClr val="tx1"/>
                </a:solidFill>
              </a:rPr>
              <a:t>Discogs</a:t>
            </a:r>
            <a:r>
              <a:rPr lang="en-US" sz="2000" dirty="0">
                <a:solidFill>
                  <a:schemeClr val="tx1"/>
                </a:solidFill>
              </a:rPr>
              <a:t> assignments (35% remaining) reduced to most specific single genre label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9175829-9F35-7792-0002-4A92A3C7FA56}"/>
              </a:ext>
            </a:extLst>
          </p:cNvPr>
          <p:cNvSpPr/>
          <p:nvPr/>
        </p:nvSpPr>
        <p:spPr>
          <a:xfrm>
            <a:off x="4739335" y="5076143"/>
            <a:ext cx="2592288" cy="80059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Music genres with at least 1% in remaining corpus</a:t>
            </a:r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B49917CB-0B36-0A86-2FB0-17D20553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3" name="Gleichschenkliges Dreieck 52">
            <a:extLst>
              <a:ext uri="{FF2B5EF4-FFF2-40B4-BE49-F238E27FC236}">
                <a16:creationId xmlns:a16="http://schemas.microsoft.com/office/drawing/2014/main" id="{8532335E-30F2-0B8C-81AE-94FEF5482B8A}"/>
              </a:ext>
            </a:extLst>
          </p:cNvPr>
          <p:cNvSpPr/>
          <p:nvPr/>
        </p:nvSpPr>
        <p:spPr>
          <a:xfrm rot="10800000">
            <a:off x="496410" y="2666505"/>
            <a:ext cx="4484176" cy="732778"/>
          </a:xfrm>
          <a:prstGeom prst="triangl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Gleichschenkliges Dreieck 54">
            <a:extLst>
              <a:ext uri="{FF2B5EF4-FFF2-40B4-BE49-F238E27FC236}">
                <a16:creationId xmlns:a16="http://schemas.microsoft.com/office/drawing/2014/main" id="{B739C11D-D96F-CFDE-6038-30DBC428AF7B}"/>
              </a:ext>
            </a:extLst>
          </p:cNvPr>
          <p:cNvSpPr/>
          <p:nvPr/>
        </p:nvSpPr>
        <p:spPr>
          <a:xfrm rot="5400000">
            <a:off x="6854242" y="5353153"/>
            <a:ext cx="1118641" cy="434774"/>
          </a:xfrm>
          <a:prstGeom prst="triangl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Grafik 56" descr="Filter Silhouette">
            <a:extLst>
              <a:ext uri="{FF2B5EF4-FFF2-40B4-BE49-F238E27FC236}">
                <a16:creationId xmlns:a16="http://schemas.microsoft.com/office/drawing/2014/main" id="{63249C47-981D-F890-DC9D-199116FB6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3097" y="5377944"/>
            <a:ext cx="385192" cy="385192"/>
          </a:xfrm>
          <a:prstGeom prst="rect">
            <a:avLst/>
          </a:prstGeom>
        </p:spPr>
      </p:pic>
      <p:pic>
        <p:nvPicPr>
          <p:cNvPr id="59" name="Grafik 58" descr="Filter Silhouette">
            <a:extLst>
              <a:ext uri="{FF2B5EF4-FFF2-40B4-BE49-F238E27FC236}">
                <a16:creationId xmlns:a16="http://schemas.microsoft.com/office/drawing/2014/main" id="{4E6889F9-D7D0-7313-47DD-976BFFB80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1699" y="4866140"/>
            <a:ext cx="640673" cy="640673"/>
          </a:xfrm>
          <a:prstGeom prst="rect">
            <a:avLst/>
          </a:prstGeom>
        </p:spPr>
      </p:pic>
      <p:pic>
        <p:nvPicPr>
          <p:cNvPr id="60" name="Grafik 59" descr="Filter Silhouette">
            <a:extLst>
              <a:ext uri="{FF2B5EF4-FFF2-40B4-BE49-F238E27FC236}">
                <a16:creationId xmlns:a16="http://schemas.microsoft.com/office/drawing/2014/main" id="{DF0901D3-EC58-4104-9BC0-74735CCD6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29878" y="2622579"/>
            <a:ext cx="817240" cy="81724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E836118-DD18-487E-0EE2-8E620F59F4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133" y="1504937"/>
            <a:ext cx="4061470" cy="338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1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8" grpId="0"/>
      <p:bldP spid="20" grpId="0" animBg="1"/>
      <p:bldP spid="21" grpId="0" animBg="1"/>
      <p:bldP spid="53" grpId="0" animBg="1"/>
      <p:bldP spid="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AC70-EBFB-EEB4-532E-2514F50E1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66D2AD-02BC-B1E2-8C9C-286C6603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Lyrics </a:t>
            </a:r>
            <a:r>
              <a:rPr lang="de-DE" dirty="0" err="1"/>
              <a:t>Preprocessing</a:t>
            </a:r>
            <a:r>
              <a:rPr lang="de-DE" dirty="0"/>
              <a:t> and Split</a:t>
            </a:r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79F3D926-7B12-7CB3-665E-CEF2B026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aseline="30000" dirty="0"/>
              <a:t>1 </a:t>
            </a:r>
            <a:r>
              <a:rPr lang="de-DE" dirty="0" err="1"/>
              <a:t>Flexer</a:t>
            </a:r>
            <a:r>
              <a:rPr lang="de-DE" dirty="0"/>
              <a:t> &amp; Schnitzer (2010)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138329E-870D-0F41-D69D-35C46900F1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62"/>
          <a:stretch>
            <a:fillRect/>
          </a:stretch>
        </p:blipFill>
        <p:spPr>
          <a:xfrm>
            <a:off x="1893" y="3422003"/>
            <a:ext cx="12196801" cy="2818644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5B205E1-AA91-CFCB-55A6-06EA2D41530C}"/>
              </a:ext>
            </a:extLst>
          </p:cNvPr>
          <p:cNvSpPr/>
          <p:nvPr/>
        </p:nvSpPr>
        <p:spPr>
          <a:xfrm>
            <a:off x="3798439" y="3422003"/>
            <a:ext cx="8412086" cy="272167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D16C85E-346E-FDB1-C6C3-65777DF48834}"/>
              </a:ext>
            </a:extLst>
          </p:cNvPr>
          <p:cNvSpPr txBox="1"/>
          <p:nvPr/>
        </p:nvSpPr>
        <p:spPr>
          <a:xfrm>
            <a:off x="498104" y="1117382"/>
            <a:ext cx="45365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Basic Cleaning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trim whitespaces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remove content in square brackets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unify “*” (</a:t>
            </a:r>
            <a:r>
              <a:rPr lang="en-US" sz="2000" dirty="0" err="1"/>
              <a:t>e.g</a:t>
            </a:r>
            <a:r>
              <a:rPr lang="en-US" sz="2000" dirty="0"/>
              <a:t>, “f*ck” -&gt; “fuck”)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remove structure indicators </a:t>
            </a:r>
            <a:br>
              <a:rPr lang="en-US" sz="2000" dirty="0"/>
            </a:br>
            <a:r>
              <a:rPr lang="en-US" sz="2000" dirty="0"/>
              <a:t>(e.g., “chorus”)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fix missing apostrophes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3C96303-8814-EC25-E2D4-148F7C9C7C45}"/>
              </a:ext>
            </a:extLst>
          </p:cNvPr>
          <p:cNvSpPr txBox="1"/>
          <p:nvPr/>
        </p:nvSpPr>
        <p:spPr>
          <a:xfrm>
            <a:off x="4727848" y="1128842"/>
            <a:ext cx="45365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For topics and sentiments only: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lemmatize and tag part of speech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reduce to nouns (topics) or adjectives and adverbs (sentiments)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min 3 characters, no </a:t>
            </a:r>
            <a:r>
              <a:rPr lang="en-US" sz="2000" dirty="0" err="1"/>
              <a:t>stopwords</a:t>
            </a:r>
            <a:endParaRPr lang="en-US" sz="2000" dirty="0"/>
          </a:p>
          <a:p>
            <a:pPr marL="174625" indent="-174625">
              <a:buFontTx/>
              <a:buChar char="-"/>
            </a:pPr>
            <a:r>
              <a:rPr lang="en-US" sz="2000" dirty="0"/>
              <a:t>must be in English vocabulary whitelist  (</a:t>
            </a:r>
            <a:r>
              <a:rPr lang="en-US" sz="2000" i="1" dirty="0" err="1"/>
              <a:t>spaCy</a:t>
            </a:r>
            <a:r>
              <a:rPr lang="en-US" sz="2000" dirty="0"/>
              <a:t> and </a:t>
            </a:r>
            <a:r>
              <a:rPr lang="en-US" sz="2000" i="1" dirty="0" err="1"/>
              <a:t>nltk</a:t>
            </a:r>
            <a:r>
              <a:rPr lang="en-US" sz="2000" dirty="0"/>
              <a:t> Python libraries)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A53E37-82F9-7FB4-6150-484C5C04AB81}"/>
              </a:ext>
            </a:extLst>
          </p:cNvPr>
          <p:cNvSpPr txBox="1"/>
          <p:nvPr/>
        </p:nvSpPr>
        <p:spPr>
          <a:xfrm>
            <a:off x="9744404" y="1732934"/>
            <a:ext cx="20162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Stratified artist-grouped</a:t>
            </a:r>
            <a:r>
              <a:rPr lang="en-US" sz="2000" b="1" baseline="30000" dirty="0"/>
              <a:t>1</a:t>
            </a:r>
            <a:r>
              <a:rPr lang="en-US" sz="2000" b="1" dirty="0"/>
              <a:t> split in:</a:t>
            </a:r>
          </a:p>
          <a:p>
            <a:r>
              <a:rPr lang="en-US" sz="2000" b="1" dirty="0"/>
              <a:t>Training (80%) Holdout (20%)</a:t>
            </a:r>
          </a:p>
        </p:txBody>
      </p:sp>
    </p:spTree>
    <p:extLst>
      <p:ext uri="{BB962C8B-B14F-4D97-AF65-F5344CB8AC3E}">
        <p14:creationId xmlns:p14="http://schemas.microsoft.com/office/powerpoint/2010/main" val="150453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12E1-8759-8A26-F753-B36803B2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FF7C3-42F1-056C-8FCB-57E4099E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RQ1: </a:t>
            </a:r>
            <a:r>
              <a:rPr lang="de-DE" dirty="0" err="1"/>
              <a:t>Stylistic</a:t>
            </a:r>
            <a:r>
              <a:rPr lang="de-DE" dirty="0"/>
              <a:t> Patterns – </a:t>
            </a:r>
            <a:r>
              <a:rPr lang="de-DE" dirty="0" err="1"/>
              <a:t>Fightin</a:t>
            </a:r>
            <a:r>
              <a:rPr lang="de-DE" dirty="0"/>
              <a:t>‘ n-</a:t>
            </a:r>
            <a:r>
              <a:rPr lang="de-DE" dirty="0" err="1"/>
              <a:t>grams</a:t>
            </a:r>
            <a:r>
              <a:rPr lang="de-DE" dirty="0"/>
              <a:t> </a:t>
            </a:r>
            <a:r>
              <a:rPr lang="de-DE" dirty="0" err="1"/>
              <a:t>Vocabularies</a:t>
            </a:r>
            <a:endParaRPr lang="de-DE" dirty="0"/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0A942A75-73D2-2CC2-B702-0F2787500A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aseline="30000" dirty="0"/>
              <a:t>1 </a:t>
            </a:r>
            <a:r>
              <a:rPr lang="de-DE" dirty="0"/>
              <a:t>Monroe et al. (2008)   </a:t>
            </a:r>
            <a:r>
              <a:rPr lang="de-DE" baseline="30000" dirty="0"/>
              <a:t>2 </a:t>
            </a:r>
            <a:r>
              <a:rPr lang="de-DE" dirty="0" err="1"/>
              <a:t>Benjamini</a:t>
            </a:r>
            <a:r>
              <a:rPr lang="de-DE" dirty="0"/>
              <a:t> and Hochberg (1995)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0D52FF1-2429-FCED-2A84-B419B0DD8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62"/>
          <a:stretch>
            <a:fillRect/>
          </a:stretch>
        </p:blipFill>
        <p:spPr>
          <a:xfrm>
            <a:off x="1893" y="3422003"/>
            <a:ext cx="12196801" cy="2818644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7F5E983-2FCB-3189-F63D-BA19C07D7771}"/>
              </a:ext>
            </a:extLst>
          </p:cNvPr>
          <p:cNvSpPr/>
          <p:nvPr/>
        </p:nvSpPr>
        <p:spPr>
          <a:xfrm>
            <a:off x="5879977" y="3422003"/>
            <a:ext cx="6330548" cy="272167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64F1D6A-5029-C901-22A7-CA4AF9C8515C}"/>
              </a:ext>
            </a:extLst>
          </p:cNvPr>
          <p:cNvSpPr/>
          <p:nvPr/>
        </p:nvSpPr>
        <p:spPr>
          <a:xfrm>
            <a:off x="-9938" y="3422004"/>
            <a:ext cx="3719736" cy="2876496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6DFEB3F-4D48-6826-2ADB-5E15C122E636}"/>
              </a:ext>
            </a:extLst>
          </p:cNvPr>
          <p:cNvSpPr txBox="1"/>
          <p:nvPr/>
        </p:nvSpPr>
        <p:spPr>
          <a:xfrm>
            <a:off x="505881" y="984669"/>
            <a:ext cx="41884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Extract n-grams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unigrams for topics and sentiments, n in [1,2,3,4] for expressions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discard </a:t>
            </a:r>
            <a:r>
              <a:rPr lang="en-US" sz="2000" dirty="0" err="1"/>
              <a:t>stopword</a:t>
            </a:r>
            <a:r>
              <a:rPr lang="en-US" sz="2000" dirty="0"/>
              <a:t> only n-grams, trivial </a:t>
            </a:r>
            <a:r>
              <a:rPr lang="en-US" sz="2000" dirty="0" err="1"/>
              <a:t>article+noun</a:t>
            </a:r>
            <a:r>
              <a:rPr lang="en-US" sz="2000" dirty="0"/>
              <a:t> and </a:t>
            </a:r>
            <a:r>
              <a:rPr lang="en-US" sz="2000" dirty="0" err="1"/>
              <a:t>to+infinitive</a:t>
            </a:r>
            <a:r>
              <a:rPr lang="en-US" sz="2000" dirty="0"/>
              <a:t> bigrams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min. 2 artist for n-grams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endParaRPr lang="en-US" sz="20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9DF6FE4-36AF-EF68-C3D5-5BF3DD64774A}"/>
              </a:ext>
            </a:extLst>
          </p:cNvPr>
          <p:cNvSpPr txBox="1"/>
          <p:nvPr/>
        </p:nvSpPr>
        <p:spPr>
          <a:xfrm>
            <a:off x="4694380" y="976335"/>
            <a:ext cx="456256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Fightin’ n-grams</a:t>
            </a:r>
            <a:r>
              <a:rPr lang="en-US" sz="2000" b="1" baseline="30000" dirty="0"/>
              <a:t>1 </a:t>
            </a:r>
            <a:r>
              <a:rPr lang="en-US" sz="2000" b="1" dirty="0"/>
              <a:t>(“Does an n-gram appear significantly more often in one genre than in all others?)</a:t>
            </a:r>
            <a:endParaRPr lang="en-US" sz="2000" b="1" baseline="30000" dirty="0"/>
          </a:p>
          <a:p>
            <a:pPr marL="174625" indent="-174625">
              <a:buFontTx/>
              <a:buChar char="-"/>
            </a:pPr>
            <a:r>
              <a:rPr lang="en-US" sz="2000" dirty="0"/>
              <a:t>One vs. Rest LLR per genre + n-gram with prevalence prior 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Benjamini False Discovery Rate</a:t>
            </a:r>
            <a:r>
              <a:rPr lang="en-US" sz="2000" baseline="30000" dirty="0"/>
              <a:t>2</a:t>
            </a:r>
            <a:r>
              <a:rPr lang="en-US" sz="2000" dirty="0"/>
              <a:t> corrected one-sided test </a:t>
            </a:r>
            <a:br>
              <a:rPr lang="en-US" sz="2000" dirty="0"/>
            </a:br>
            <a:r>
              <a:rPr lang="en-US" sz="2000" dirty="0"/>
              <a:t>(FDR, </a:t>
            </a:r>
            <a:r>
              <a:rPr lang="el-GR" sz="2000" dirty="0"/>
              <a:t>α</a:t>
            </a:r>
            <a:r>
              <a:rPr lang="de-DE" sz="2000" dirty="0"/>
              <a:t> = 0.001</a:t>
            </a:r>
            <a:r>
              <a:rPr lang="en-US" sz="2000" dirty="0"/>
              <a:t>)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endParaRPr lang="en-US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26E584D-CD73-35AD-71E0-5E4ED1522730}"/>
              </a:ext>
            </a:extLst>
          </p:cNvPr>
          <p:cNvSpPr txBox="1"/>
          <p:nvPr/>
        </p:nvSpPr>
        <p:spPr>
          <a:xfrm>
            <a:off x="8998952" y="988184"/>
            <a:ext cx="29251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For expressions: 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top-down recursive phrase extraction, “glueing” significant 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break non-significant  multi-word phrases after final FDR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3CC309A-C474-6AC2-A33F-E97725CA5A6E}"/>
              </a:ext>
            </a:extLst>
          </p:cNvPr>
          <p:cNvSpPr txBox="1"/>
          <p:nvPr/>
        </p:nvSpPr>
        <p:spPr>
          <a:xfrm>
            <a:off x="8697313" y="4152366"/>
            <a:ext cx="352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Count n-grams for </a:t>
            </a:r>
            <a:br>
              <a:rPr lang="en-US" sz="2000" b="1" dirty="0"/>
            </a:br>
            <a:r>
              <a:rPr lang="en-US" sz="2000" b="1" dirty="0"/>
              <a:t>Document-Term-Matrix (DTM)</a:t>
            </a:r>
            <a:endParaRPr lang="en-US" sz="2000" dirty="0"/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2694511C-0E1F-E9FE-9961-EB7785858ED2}"/>
              </a:ext>
            </a:extLst>
          </p:cNvPr>
          <p:cNvSpPr/>
          <p:nvPr/>
        </p:nvSpPr>
        <p:spPr>
          <a:xfrm>
            <a:off x="8083216" y="4362293"/>
            <a:ext cx="566125" cy="288032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6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731B8-CF72-36E6-0E25-E32DFCC15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02187D-4CC8-CC3A-6214-68CD12CD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RQ1: </a:t>
            </a:r>
            <a:r>
              <a:rPr lang="de-DE" dirty="0" err="1"/>
              <a:t>Stylistic</a:t>
            </a:r>
            <a:r>
              <a:rPr lang="de-DE" dirty="0"/>
              <a:t> Patterns – Latent </a:t>
            </a:r>
            <a:r>
              <a:rPr lang="de-DE" dirty="0" err="1"/>
              <a:t>Types</a:t>
            </a:r>
            <a:endParaRPr lang="de-DE" dirty="0"/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8CC27C2E-48D4-F6C7-52A5-107F8E5A0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aseline="30000" dirty="0"/>
              <a:t>1 </a:t>
            </a:r>
            <a:r>
              <a:rPr lang="de-DE" dirty="0"/>
              <a:t>Roberts et al. (2019) </a:t>
            </a:r>
            <a:r>
              <a:rPr lang="de-DE" baseline="30000" dirty="0"/>
              <a:t>2 </a:t>
            </a:r>
            <a:r>
              <a:rPr lang="de-DE" dirty="0"/>
              <a:t>Roberts et al. (2014)   </a:t>
            </a:r>
            <a:r>
              <a:rPr lang="de-DE" baseline="30000" dirty="0"/>
              <a:t>3 </a:t>
            </a:r>
            <a:r>
              <a:rPr lang="de-DE" dirty="0"/>
              <a:t>Bischof &amp; </a:t>
            </a:r>
            <a:r>
              <a:rPr lang="de-DE" dirty="0" err="1"/>
              <a:t>Airoldi</a:t>
            </a:r>
            <a:r>
              <a:rPr lang="de-DE" dirty="0"/>
              <a:t> (2012)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44C54B2-E35C-CA6C-FB0D-787045A489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62"/>
          <a:stretch>
            <a:fillRect/>
          </a:stretch>
        </p:blipFill>
        <p:spPr>
          <a:xfrm>
            <a:off x="1893" y="3422003"/>
            <a:ext cx="12196801" cy="2818644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1E57002D-8533-23B8-ECC8-BDEA3376D236}"/>
              </a:ext>
            </a:extLst>
          </p:cNvPr>
          <p:cNvSpPr/>
          <p:nvPr/>
        </p:nvSpPr>
        <p:spPr>
          <a:xfrm>
            <a:off x="9984431" y="3422003"/>
            <a:ext cx="2226093" cy="272167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53FAEA1-628A-0561-FC26-954322297DC7}"/>
              </a:ext>
            </a:extLst>
          </p:cNvPr>
          <p:cNvSpPr/>
          <p:nvPr/>
        </p:nvSpPr>
        <p:spPr>
          <a:xfrm>
            <a:off x="-9938" y="3422004"/>
            <a:ext cx="5889914" cy="2876496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0AF8415-1042-3F66-D16C-593654473954}"/>
              </a:ext>
            </a:extLst>
          </p:cNvPr>
          <p:cNvSpPr txBox="1"/>
          <p:nvPr/>
        </p:nvSpPr>
        <p:spPr>
          <a:xfrm>
            <a:off x="469578" y="1022098"/>
            <a:ext cx="43017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Aggregate DTM on </a:t>
            </a:r>
          </a:p>
          <a:p>
            <a:r>
              <a:rPr lang="en-US" sz="2000" b="1" dirty="0"/>
              <a:t>unique artist-genre combinations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reduce 101,940 docs to 7,713 docs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mitigate n-gram sparsity during model training (later overfitting)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EBE4448-CF1C-8B37-2F4F-98464027A1A4}"/>
              </a:ext>
            </a:extLst>
          </p:cNvPr>
          <p:cNvSpPr txBox="1"/>
          <p:nvPr/>
        </p:nvSpPr>
        <p:spPr>
          <a:xfrm>
            <a:off x="4583832" y="1022099"/>
            <a:ext cx="43017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Structural Topic Modeling (STM)</a:t>
            </a:r>
            <a:r>
              <a:rPr lang="en-US" sz="2000" b="1" baseline="30000" dirty="0"/>
              <a:t>1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tune for k=[2, 3…, 20] topics with 50/50 train-validation split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choose optimal k using exclusivity, coherence, and holdout likelihood</a:t>
            </a:r>
            <a:r>
              <a:rPr lang="en-US" sz="2000" baseline="30000" dirty="0"/>
              <a:t>2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Interpret types based on top FREX n-grams</a:t>
            </a:r>
            <a:r>
              <a:rPr lang="en-US" sz="2000" baseline="30000" dirty="0"/>
              <a:t>3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5D40AAF-D96C-E6DD-0AE2-137DF34FE2C3}"/>
              </a:ext>
            </a:extLst>
          </p:cNvPr>
          <p:cNvSpPr txBox="1"/>
          <p:nvPr/>
        </p:nvSpPr>
        <p:spPr>
          <a:xfrm>
            <a:off x="9048328" y="994397"/>
            <a:ext cx="2957331" cy="18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Apply models on track-level data for features</a:t>
            </a:r>
          </a:p>
          <a:p>
            <a:endParaRPr lang="en-US" sz="2000" b="1" baseline="30000" dirty="0"/>
          </a:p>
          <a:p>
            <a:r>
              <a:rPr lang="en-US" sz="2000" b="1" dirty="0"/>
              <a:t>Investigate per-genre type probabilities in training corpus</a:t>
            </a:r>
          </a:p>
        </p:txBody>
      </p:sp>
    </p:spTree>
    <p:extLst>
      <p:ext uri="{BB962C8B-B14F-4D97-AF65-F5344CB8AC3E}">
        <p14:creationId xmlns:p14="http://schemas.microsoft.com/office/powerpoint/2010/main" val="357804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DADE1-0D98-F74D-B520-528590AF8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ED36C2-6663-0EFC-B939-75BD09C5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RQ2+3: </a:t>
            </a:r>
            <a:r>
              <a:rPr lang="de-DE" dirty="0" err="1"/>
              <a:t>Machine</a:t>
            </a:r>
            <a:r>
              <a:rPr lang="de-DE" dirty="0"/>
              <a:t> Learning Experiments and Interpretation</a:t>
            </a:r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4703D754-EF40-EAAB-5EC9-524D494B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aseline="30000" dirty="0"/>
              <a:t>1 </a:t>
            </a:r>
            <a:r>
              <a:rPr lang="de-DE" dirty="0" err="1"/>
              <a:t>Sanh</a:t>
            </a:r>
            <a:r>
              <a:rPr lang="de-DE" dirty="0"/>
              <a:t> et al. (2019)   </a:t>
            </a:r>
            <a:r>
              <a:rPr lang="de-DE" baseline="30000" dirty="0"/>
              <a:t>2 </a:t>
            </a:r>
            <a:r>
              <a:rPr lang="de-DE" dirty="0"/>
              <a:t>Fell &amp; Spohrleder (2014) </a:t>
            </a:r>
            <a:r>
              <a:rPr lang="de-DE" baseline="30000" dirty="0"/>
              <a:t>3 </a:t>
            </a:r>
            <a:r>
              <a:rPr lang="de-DE" dirty="0" err="1"/>
              <a:t>Defazio</a:t>
            </a:r>
            <a:r>
              <a:rPr lang="de-DE" dirty="0"/>
              <a:t> et al. (2014)   </a:t>
            </a:r>
            <a:r>
              <a:rPr lang="de-DE" baseline="30000" dirty="0"/>
              <a:t>4 </a:t>
            </a:r>
            <a:r>
              <a:rPr lang="de-DE" dirty="0"/>
              <a:t>Ke et al. (2017)   </a:t>
            </a:r>
            <a:r>
              <a:rPr lang="de-DE" baseline="30000" dirty="0"/>
              <a:t>5 </a:t>
            </a:r>
            <a:r>
              <a:rPr lang="de-DE" dirty="0"/>
              <a:t>Fisher et al. (2019)   </a:t>
            </a:r>
            <a:r>
              <a:rPr lang="de-DE" baseline="30000" dirty="0"/>
              <a:t>6 </a:t>
            </a:r>
            <a:r>
              <a:rPr lang="de-DE" dirty="0"/>
              <a:t>Lundberg &amp; Lee (2017)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1C58E4A-936E-E88C-2ED7-18B9AF905F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62"/>
          <a:stretch>
            <a:fillRect/>
          </a:stretch>
        </p:blipFill>
        <p:spPr>
          <a:xfrm>
            <a:off x="1893" y="3422003"/>
            <a:ext cx="12196801" cy="2818644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CED2B59E-023B-D18C-8089-E1B21684AC2A}"/>
              </a:ext>
            </a:extLst>
          </p:cNvPr>
          <p:cNvSpPr/>
          <p:nvPr/>
        </p:nvSpPr>
        <p:spPr>
          <a:xfrm>
            <a:off x="-9938" y="3422004"/>
            <a:ext cx="9922362" cy="2876496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F0F13D7-4C2C-0DDB-4842-2D1C32204037}"/>
              </a:ext>
            </a:extLst>
          </p:cNvPr>
          <p:cNvSpPr txBox="1"/>
          <p:nvPr/>
        </p:nvSpPr>
        <p:spPr>
          <a:xfrm>
            <a:off x="468429" y="1014148"/>
            <a:ext cx="37542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Discard redundant features before model training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remove topic, sentiment, and expression type with highest sum across artist-genre probabilities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09F512-EA01-B3A2-CD55-6E65CCED18F1}"/>
              </a:ext>
            </a:extLst>
          </p:cNvPr>
          <p:cNvSpPr txBox="1"/>
          <p:nvPr/>
        </p:nvSpPr>
        <p:spPr>
          <a:xfrm>
            <a:off x="3926502" y="1014147"/>
            <a:ext cx="37542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Baselines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tuned DistilBERT on raw lyrics</a:t>
            </a:r>
            <a:r>
              <a:rPr lang="en-US" sz="2000" baseline="30000" dirty="0"/>
              <a:t>1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TF-IDF</a:t>
            </a:r>
            <a:r>
              <a:rPr lang="en-US" sz="2000" baseline="30000" dirty="0"/>
              <a:t>2</a:t>
            </a:r>
            <a:r>
              <a:rPr lang="en-US" sz="2000" dirty="0"/>
              <a:t>+ GLMNET</a:t>
            </a:r>
            <a:r>
              <a:rPr lang="en-US" sz="2000" baseline="30000" dirty="0"/>
              <a:t>3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weighted random 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3C58A61-DB28-35E9-5BFC-1D02049568F5}"/>
              </a:ext>
            </a:extLst>
          </p:cNvPr>
          <p:cNvSpPr txBox="1"/>
          <p:nvPr/>
        </p:nvSpPr>
        <p:spPr>
          <a:xfrm>
            <a:off x="7455198" y="1014147"/>
            <a:ext cx="46174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Models and Interpretation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Fixed-parameter GLMNET for individual and combined dimensions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Tuned GLMNET+LightGBM</a:t>
            </a:r>
            <a:r>
              <a:rPr lang="en-US" sz="2000" baseline="30000" dirty="0"/>
              <a:t>4</a:t>
            </a:r>
            <a:r>
              <a:rPr lang="en-US" sz="2000" dirty="0"/>
              <a:t> for best set</a:t>
            </a:r>
          </a:p>
          <a:p>
            <a:pPr marL="174625" indent="-174625">
              <a:buFontTx/>
              <a:buChar char="-"/>
            </a:pPr>
            <a:r>
              <a:rPr lang="en-US" sz="2000" dirty="0"/>
              <a:t>permutation importance</a:t>
            </a:r>
            <a:r>
              <a:rPr lang="en-US" sz="2000" baseline="30000" dirty="0"/>
              <a:t>5</a:t>
            </a:r>
            <a:r>
              <a:rPr lang="en-US" sz="2000" dirty="0"/>
              <a:t> and SHAP</a:t>
            </a:r>
            <a:r>
              <a:rPr lang="en-US" sz="2000" baseline="30000" dirty="0"/>
              <a:t>6</a:t>
            </a:r>
            <a:r>
              <a:rPr lang="en-US" sz="2000" dirty="0"/>
              <a:t> on holdout</a:t>
            </a:r>
          </a:p>
        </p:txBody>
      </p:sp>
    </p:spTree>
    <p:extLst>
      <p:ext uri="{BB962C8B-B14F-4D97-AF65-F5344CB8AC3E}">
        <p14:creationId xmlns:p14="http://schemas.microsoft.com/office/powerpoint/2010/main" val="194507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E1C9-C1A0-A346-5E22-B8B33C59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F4E8C-5E5A-A94A-CC98-4D8F6364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RESULTS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549EDB-BC44-8C8D-0014-96D970CE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65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3C3E-D959-ED08-4D0F-B49243C8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2AA505-0ECC-BFD6-4633-1B46E3AD1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RQ1: Music Genre </a:t>
            </a:r>
            <a:r>
              <a:rPr lang="de-DE" dirty="0" err="1"/>
              <a:t>Discriminating</a:t>
            </a:r>
            <a:r>
              <a:rPr lang="de-DE" dirty="0"/>
              <a:t> Style - </a:t>
            </a:r>
            <a:r>
              <a:rPr lang="de-DE" dirty="0" err="1"/>
              <a:t>Vocabularies</a:t>
            </a:r>
            <a:endParaRPr lang="de-DE" dirty="0"/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C02374A4-6CE5-87BF-5D88-131BFB155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90D17D8-51B1-89F5-301F-2F420CFEC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169489"/>
              </p:ext>
            </p:extLst>
          </p:nvPr>
        </p:nvGraphicFramePr>
        <p:xfrm>
          <a:off x="492436" y="2385211"/>
          <a:ext cx="3395323" cy="20875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842176657"/>
                    </a:ext>
                  </a:extLst>
                </a:gridCol>
                <a:gridCol w="1883155">
                  <a:extLst>
                    <a:ext uri="{9D8B030D-6E8A-4147-A177-3AD203B41FA5}">
                      <a16:colId xmlns:a16="http://schemas.microsoft.com/office/drawing/2014/main" val="2662391449"/>
                    </a:ext>
                  </a:extLst>
                </a:gridCol>
              </a:tblGrid>
              <a:tr h="629687">
                <a:tc>
                  <a:txBody>
                    <a:bodyPr/>
                    <a:lstStyle/>
                    <a:p>
                      <a:r>
                        <a:rPr lang="en-US" sz="2000" dirty="0"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Vocabulary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943673"/>
                  </a:ext>
                </a:extLst>
              </a:tr>
              <a:tr h="462179">
                <a:tc>
                  <a:txBody>
                    <a:bodyPr/>
                    <a:lstStyle/>
                    <a:p>
                      <a:r>
                        <a:rPr lang="en-US" sz="2000" dirty="0"/>
                        <a:t>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3,827 unigrams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223702"/>
                  </a:ext>
                </a:extLst>
              </a:tr>
              <a:tr h="462179">
                <a:tc>
                  <a:txBody>
                    <a:bodyPr/>
                    <a:lstStyle/>
                    <a:p>
                      <a:r>
                        <a:rPr lang="en-US" sz="2000" dirty="0"/>
                        <a:t>Sentiments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857 unigrams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109784"/>
                  </a:ext>
                </a:extLst>
              </a:tr>
              <a:tr h="462179">
                <a:tc>
                  <a:txBody>
                    <a:bodyPr/>
                    <a:lstStyle/>
                    <a:p>
                      <a:r>
                        <a:rPr lang="en-US" sz="2000" dirty="0"/>
                        <a:t>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26,344 n-grams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347299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33D1E7E7-AE6C-5B99-54D7-D92AB56EBFD4}"/>
              </a:ext>
            </a:extLst>
          </p:cNvPr>
          <p:cNvSpPr txBox="1"/>
          <p:nvPr/>
        </p:nvSpPr>
        <p:spPr>
          <a:xfrm>
            <a:off x="4655840" y="1268760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n-gram type distribution for expressions</a:t>
            </a:r>
            <a:endParaRPr lang="en-US" sz="2200" dirty="0"/>
          </a:p>
          <a:p>
            <a:pPr marL="285750" indent="-285750">
              <a:buFontTx/>
              <a:buChar char="-"/>
            </a:pPr>
            <a:endParaRPr lang="en-US" sz="22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D313165-9C5D-2250-4A51-F6084EC901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4147" y="1844824"/>
            <a:ext cx="7344814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1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4D02-74F2-1C73-6FA3-115FF4CFB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0FD73-3F9C-D7B9-DD8D-5C03E60D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RQ1: Music Genre </a:t>
            </a:r>
            <a:r>
              <a:rPr lang="de-DE" dirty="0" err="1"/>
              <a:t>Discriminating</a:t>
            </a:r>
            <a:r>
              <a:rPr lang="de-DE" dirty="0"/>
              <a:t> Style – Latent </a:t>
            </a:r>
            <a:r>
              <a:rPr lang="de-DE" dirty="0" err="1"/>
              <a:t>Types</a:t>
            </a:r>
            <a:endParaRPr lang="de-DE" dirty="0"/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6357C2B3-8D7B-FA7C-12BA-C76588A6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6F658EC-53DB-E331-5B44-9DAD56FEC446}"/>
              </a:ext>
            </a:extLst>
          </p:cNvPr>
          <p:cNvSpPr txBox="1"/>
          <p:nvPr/>
        </p:nvSpPr>
        <p:spPr>
          <a:xfrm>
            <a:off x="218952" y="1020429"/>
            <a:ext cx="84358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12 Topics, 8 Sentiments, 15 Expression Types</a:t>
            </a:r>
          </a:p>
          <a:p>
            <a:endParaRPr lang="en-US" sz="2200" b="1" dirty="0"/>
          </a:p>
          <a:p>
            <a:r>
              <a:rPr lang="en-US" sz="2200" dirty="0"/>
              <a:t>Example Latent Type Interpretations:</a:t>
            </a:r>
          </a:p>
          <a:p>
            <a:pPr marL="285750" indent="-285750">
              <a:buFontTx/>
              <a:buChar char="-"/>
            </a:pPr>
            <a:endParaRPr lang="en-US" sz="22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D6AC4BF-C420-B1E4-049D-7E3B79D3E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4" y="2159606"/>
            <a:ext cx="12000656" cy="332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3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7889D-E351-1E96-DEDC-756BC919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6C870-B4D6-A614-79C6-0D1007A03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RQ1: Music Genre </a:t>
            </a:r>
            <a:r>
              <a:rPr lang="de-DE" dirty="0" err="1"/>
              <a:t>Discriminating</a:t>
            </a:r>
            <a:r>
              <a:rPr lang="de-DE" dirty="0"/>
              <a:t> Style – Latent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Probability</a:t>
            </a:r>
            <a:endParaRPr lang="de-DE" dirty="0"/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ACEE2D13-7AA9-0DFB-652C-FD81801C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A9EB02D-2FE2-E3A0-763C-672BB4DC7B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5446" y="1988840"/>
            <a:ext cx="3936434" cy="360839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D3818D1-5ED3-0F13-3546-0931CBE214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9575" y="2044700"/>
            <a:ext cx="3936434" cy="360839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B799A2F-BC64-785E-ABBA-FF082DBA05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8168" y="1572219"/>
            <a:ext cx="4472281" cy="409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32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0BE96-90A5-C074-A1A1-3310AA46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7A2CB55-4898-6CAF-22BC-011B667ED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6" y="1926549"/>
            <a:ext cx="6009224" cy="306908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974DBEA-FC7F-702B-E384-CFB7AD3E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RQ2: </a:t>
            </a:r>
            <a:r>
              <a:rPr lang="de-DE" dirty="0" err="1"/>
              <a:t>Interpretable</a:t>
            </a:r>
            <a:r>
              <a:rPr lang="de-DE" dirty="0"/>
              <a:t> ML Performance</a:t>
            </a:r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872DE975-AAAD-A1ED-5A61-628710F00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B7E92F0-C7C1-F628-B9AD-0C9603A5EC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4217" y="1460984"/>
            <a:ext cx="5486411" cy="457200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7C45EC1-B586-FBD7-8031-9D5BF5DEE4C5}"/>
              </a:ext>
            </a:extLst>
          </p:cNvPr>
          <p:cNvSpPr txBox="1"/>
          <p:nvPr/>
        </p:nvSpPr>
        <p:spPr>
          <a:xfrm>
            <a:off x="2869784" y="4926117"/>
            <a:ext cx="3248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rgbClr val="C40D20"/>
                </a:solidFill>
              </a:rPr>
              <a:t>82,2% </a:t>
            </a:r>
            <a:r>
              <a:rPr lang="de-DE" sz="1800" dirty="0" err="1">
                <a:solidFill>
                  <a:srgbClr val="C40D20"/>
                </a:solidFill>
              </a:rPr>
              <a:t>of</a:t>
            </a:r>
            <a:r>
              <a:rPr lang="de-DE" sz="1800" dirty="0">
                <a:solidFill>
                  <a:srgbClr val="C40D20"/>
                </a:solidFill>
              </a:rPr>
              <a:t> DistilBERT LLM </a:t>
            </a:r>
            <a:r>
              <a:rPr lang="de-DE" sz="1800" dirty="0" err="1">
                <a:solidFill>
                  <a:srgbClr val="C40D20"/>
                </a:solidFill>
              </a:rPr>
              <a:t>baseline</a:t>
            </a:r>
            <a:endParaRPr lang="en-US" dirty="0">
              <a:solidFill>
                <a:srgbClr val="C40D20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64C058B-7E90-C504-931A-01D80CD2B4CF}"/>
              </a:ext>
            </a:extLst>
          </p:cNvPr>
          <p:cNvSpPr/>
          <p:nvPr/>
        </p:nvSpPr>
        <p:spPr>
          <a:xfrm>
            <a:off x="5447928" y="2700816"/>
            <a:ext cx="557536" cy="224128"/>
          </a:xfrm>
          <a:prstGeom prst="rect">
            <a:avLst/>
          </a:prstGeom>
          <a:noFill/>
          <a:ln w="19050">
            <a:solidFill>
              <a:srgbClr val="C40D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F4C70C0-4AE7-555D-B1D0-97D713EAB59A}"/>
              </a:ext>
            </a:extLst>
          </p:cNvPr>
          <p:cNvSpPr/>
          <p:nvPr/>
        </p:nvSpPr>
        <p:spPr>
          <a:xfrm>
            <a:off x="5447928" y="4602912"/>
            <a:ext cx="557536" cy="229042"/>
          </a:xfrm>
          <a:prstGeom prst="rect">
            <a:avLst/>
          </a:prstGeom>
          <a:noFill/>
          <a:ln w="19050">
            <a:solidFill>
              <a:srgbClr val="C40D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9032D97-D61E-922A-967A-A163F6A3FDA0}"/>
              </a:ext>
            </a:extLst>
          </p:cNvPr>
          <p:cNvSpPr/>
          <p:nvPr/>
        </p:nvSpPr>
        <p:spPr>
          <a:xfrm>
            <a:off x="6274217" y="1460984"/>
            <a:ext cx="3505742" cy="792088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E108825-AC23-4A2A-BBA3-94A253E62C8A}"/>
              </a:ext>
            </a:extLst>
          </p:cNvPr>
          <p:cNvSpPr txBox="1"/>
          <p:nvPr/>
        </p:nvSpPr>
        <p:spPr>
          <a:xfrm>
            <a:off x="6274217" y="1096072"/>
            <a:ext cx="4153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Confusion Matrix for tuned LightGBM</a:t>
            </a:r>
          </a:p>
        </p:txBody>
      </p:sp>
    </p:spTree>
    <p:extLst>
      <p:ext uri="{BB962C8B-B14F-4D97-AF65-F5344CB8AC3E}">
        <p14:creationId xmlns:p14="http://schemas.microsoft.com/office/powerpoint/2010/main" val="3817411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DA11-DAEB-4F64-0891-B65B0285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9FC66-7716-AB35-789F-4708D1BE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RQ3: Global Feature </a:t>
            </a:r>
            <a:r>
              <a:rPr lang="de-DE" dirty="0" err="1"/>
              <a:t>Importances</a:t>
            </a:r>
            <a:endParaRPr lang="de-DE" dirty="0"/>
          </a:p>
        </p:txBody>
      </p:sp>
      <p:sp>
        <p:nvSpPr>
          <p:cNvPr id="50" name="Fußzeilenplatzhalter 49">
            <a:extLst>
              <a:ext uri="{FF2B5EF4-FFF2-40B4-BE49-F238E27FC236}">
                <a16:creationId xmlns:a16="http://schemas.microsoft.com/office/drawing/2014/main" id="{7CD51831-BA02-4446-AE31-9DDAB186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B782565-E78E-91CA-3083-4C2ABC8889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1544" y="1412776"/>
            <a:ext cx="7879580" cy="488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30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77E111-CA89-8E75-F27A-31AE9577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DISCuSSIOn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E0C872-64EA-0798-13F5-1747AE804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D2F31E-BFEC-ECFF-40B8-65A05C94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99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D961-936D-9F49-9FC7-0C98C5F3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56E904-8F98-C156-A53E-0814979C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</a:t>
            </a:r>
          </a:p>
        </p:txBody>
      </p:sp>
      <p:pic>
        <p:nvPicPr>
          <p:cNvPr id="16" name="Grafik 15" descr="Roboter Silhouette">
            <a:extLst>
              <a:ext uri="{FF2B5EF4-FFF2-40B4-BE49-F238E27FC236}">
                <a16:creationId xmlns:a16="http://schemas.microsoft.com/office/drawing/2014/main" id="{B9A10C40-B511-2F92-04BC-CF1498503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896" y="1199987"/>
            <a:ext cx="1296144" cy="129614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15443709-0396-BAE1-133D-E8FB5E3D1FF8}"/>
              </a:ext>
            </a:extLst>
          </p:cNvPr>
          <p:cNvSpPr txBox="1"/>
          <p:nvPr/>
        </p:nvSpPr>
        <p:spPr>
          <a:xfrm>
            <a:off x="190291" y="2996951"/>
            <a:ext cx="403244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RQ1: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Which lyrical style patterns (topics, sentiments, formulaic expressions) discriminate genres in Anglophone German popular music?</a:t>
            </a:r>
          </a:p>
          <a:p>
            <a:endParaRPr lang="de-DE" sz="1600" dirty="0"/>
          </a:p>
          <a:p>
            <a:endParaRPr lang="de-DE" dirty="0"/>
          </a:p>
          <a:p>
            <a:r>
              <a:rPr lang="de-DE" sz="2000" dirty="0" err="1"/>
              <a:t>Identified</a:t>
            </a:r>
            <a:r>
              <a:rPr lang="de-DE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12 </a:t>
            </a:r>
            <a:r>
              <a:rPr lang="de-DE" sz="2000" dirty="0" err="1"/>
              <a:t>topics</a:t>
            </a:r>
            <a:r>
              <a:rPr lang="de-DE" sz="2000" dirty="0"/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8 </a:t>
            </a:r>
            <a:r>
              <a:rPr lang="de-DE" sz="2000" dirty="0" err="1"/>
              <a:t>sentiments</a:t>
            </a: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15 </a:t>
            </a:r>
            <a:r>
              <a:rPr lang="de-DE" sz="2000" dirty="0" err="1"/>
              <a:t>types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formulaic</a:t>
            </a:r>
            <a:r>
              <a:rPr lang="de-DE" sz="2000" dirty="0"/>
              <a:t> </a:t>
            </a:r>
            <a:r>
              <a:rPr lang="de-DE" sz="2000" dirty="0" err="1"/>
              <a:t>expressions</a:t>
            </a:r>
            <a:endParaRPr lang="de-DE" sz="2000" dirty="0"/>
          </a:p>
          <a:p>
            <a:endParaRPr lang="de-DE" sz="2000" dirty="0"/>
          </a:p>
          <a:p>
            <a:endParaRPr lang="de-DE" sz="20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62AA026-8080-B03C-44A3-C70BC6131CAA}"/>
              </a:ext>
            </a:extLst>
          </p:cNvPr>
          <p:cNvSpPr txBox="1"/>
          <p:nvPr/>
        </p:nvSpPr>
        <p:spPr>
          <a:xfrm>
            <a:off x="4311016" y="2996951"/>
            <a:ext cx="36004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Textkörper"/>
                <a:ea typeface="Calibri Light" panose="020F0302020204030204" pitchFamily="34" charset="0"/>
                <a:cs typeface="Calibri Light" panose="020F0302020204030204" pitchFamily="34" charset="0"/>
              </a:rPr>
              <a:t>RQ2: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what extent do style-based interpretable ML models match a fine-tuned DistilBERT LLM baseline on lyrics-based music genre prediction?</a:t>
            </a: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de-DE" sz="2000" dirty="0" err="1"/>
              <a:t>Interpretable</a:t>
            </a:r>
            <a:r>
              <a:rPr lang="de-DE" sz="2000" dirty="0"/>
              <a:t> </a:t>
            </a:r>
            <a:r>
              <a:rPr lang="de-DE" sz="2000" dirty="0" err="1"/>
              <a:t>models</a:t>
            </a:r>
            <a:r>
              <a:rPr lang="de-DE" sz="2000" dirty="0"/>
              <a:t> </a:t>
            </a:r>
            <a:r>
              <a:rPr lang="de-DE" sz="2000" dirty="0" err="1"/>
              <a:t>retain</a:t>
            </a:r>
            <a:r>
              <a:rPr lang="de-DE" sz="2000" dirty="0"/>
              <a:t> 82,2% </a:t>
            </a:r>
            <a:r>
              <a:rPr lang="de-DE" sz="2000" dirty="0" err="1"/>
              <a:t>of</a:t>
            </a:r>
            <a:r>
              <a:rPr lang="de-DE" sz="2000" dirty="0"/>
              <a:t> DistilBERT LLM </a:t>
            </a:r>
            <a:r>
              <a:rPr lang="de-DE" sz="2000" dirty="0" err="1"/>
              <a:t>baseline</a:t>
            </a:r>
            <a:endParaRPr lang="de-DE" sz="20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45B6E08-F8CE-F043-043A-8901986DC0F9}"/>
              </a:ext>
            </a:extLst>
          </p:cNvPr>
          <p:cNvSpPr txBox="1"/>
          <p:nvPr/>
        </p:nvSpPr>
        <p:spPr>
          <a:xfrm>
            <a:off x="8160229" y="2996951"/>
            <a:ext cx="3600400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RQ3: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can we learn about style-related lyrical genre differences from such interpretative models for popular music studies?</a:t>
            </a:r>
          </a:p>
          <a:p>
            <a:endParaRPr lang="en-US" sz="11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de-DE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Formulaic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expressions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substantially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more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discriminative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than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topics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sentiment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; </a:t>
            </a:r>
          </a:p>
          <a:p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Some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expression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types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to not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generalize</a:t>
            </a:r>
            <a:endParaRPr lang="de-DE" sz="20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de-DE" sz="20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05DC521-687D-ADA6-82C7-478455A309D6}"/>
              </a:ext>
            </a:extLst>
          </p:cNvPr>
          <p:cNvGrpSpPr/>
          <p:nvPr/>
        </p:nvGrpSpPr>
        <p:grpSpPr>
          <a:xfrm>
            <a:off x="1596614" y="1340768"/>
            <a:ext cx="1475049" cy="1152128"/>
            <a:chOff x="436658" y="811184"/>
            <a:chExt cx="1053984" cy="768566"/>
          </a:xfrm>
        </p:grpSpPr>
        <p:pic>
          <p:nvPicPr>
            <p:cNvPr id="4" name="Grafik 3" descr="Chatblase Silhouette">
              <a:extLst>
                <a:ext uri="{FF2B5EF4-FFF2-40B4-BE49-F238E27FC236}">
                  <a16:creationId xmlns:a16="http://schemas.microsoft.com/office/drawing/2014/main" id="{A9E43DDC-37CF-E3F9-D845-2CD131D47B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872458" y="811184"/>
              <a:ext cx="618184" cy="618184"/>
            </a:xfrm>
            <a:prstGeom prst="rect">
              <a:avLst/>
            </a:prstGeom>
          </p:spPr>
        </p:pic>
        <p:pic>
          <p:nvPicPr>
            <p:cNvPr id="5" name="Grafik 4" descr="Mikrofon mit einfarbiger Füllung">
              <a:extLst>
                <a:ext uri="{FF2B5EF4-FFF2-40B4-BE49-F238E27FC236}">
                  <a16:creationId xmlns:a16="http://schemas.microsoft.com/office/drawing/2014/main" id="{7C801EC9-B24B-A09F-D3E2-5A1A0B2171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6658" y="985422"/>
              <a:ext cx="594328" cy="594328"/>
            </a:xfrm>
            <a:prstGeom prst="rect">
              <a:avLst/>
            </a:prstGeom>
          </p:spPr>
        </p:pic>
      </p:grpSp>
      <p:pic>
        <p:nvPicPr>
          <p:cNvPr id="6" name="Grafik 5" descr="Idee Silhouette">
            <a:extLst>
              <a:ext uri="{FF2B5EF4-FFF2-40B4-BE49-F238E27FC236}">
                <a16:creationId xmlns:a16="http://schemas.microsoft.com/office/drawing/2014/main" id="{E709E5BF-0403-73CD-F132-F0BE35F50E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13121" y="1398281"/>
            <a:ext cx="1094615" cy="109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1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5D04-288A-E2E1-7F8B-4043900A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B8DE5-B183-6A8B-C26D-370286FFF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Discussion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20617F8-C8DB-3B4F-1293-1EE7F475A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390" y="4930049"/>
            <a:ext cx="4835483" cy="1121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Hich prevalence of negatively </a:t>
            </a:r>
            <a:r>
              <a:rPr lang="en-US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valenced</a:t>
            </a:r>
            <a:r>
              <a:rPr lang="en-US" sz="2000" b="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topics, sentiment, formulaic expressions in the corpus</a:t>
            </a:r>
            <a:r>
              <a:rPr lang="en-US" sz="2000" b="0" baseline="30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1,2</a:t>
            </a:r>
            <a: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(RQ1)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CBD868-369E-F266-B586-3D40CA4F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aseline="30000" dirty="0"/>
              <a:t>1 </a:t>
            </a:r>
            <a:r>
              <a:rPr lang="de-DE" dirty="0"/>
              <a:t>Napier &amp; </a:t>
            </a:r>
            <a:r>
              <a:rPr lang="de-DE" dirty="0" err="1"/>
              <a:t>Shamir</a:t>
            </a:r>
            <a:r>
              <a:rPr lang="de-DE" dirty="0"/>
              <a:t> (2018)  </a:t>
            </a:r>
            <a:r>
              <a:rPr lang="de-DE" baseline="30000" dirty="0"/>
              <a:t>2 </a:t>
            </a:r>
            <a:r>
              <a:rPr lang="de-DE" dirty="0"/>
              <a:t>Brandl et al. (2019)   </a:t>
            </a:r>
            <a:r>
              <a:rPr lang="de-DE" baseline="30000" dirty="0"/>
              <a:t>3 </a:t>
            </a:r>
            <a:r>
              <a:rPr lang="de-DE" dirty="0"/>
              <a:t>Fell &amp; Sporleder (2014)   </a:t>
            </a:r>
            <a:r>
              <a:rPr lang="de-DE" baseline="30000" dirty="0"/>
              <a:t>4 </a:t>
            </a:r>
            <a:r>
              <a:rPr lang="de-DE" dirty="0"/>
              <a:t>Rudin (2019)   </a:t>
            </a:r>
            <a:r>
              <a:rPr lang="de-DE" baseline="30000" dirty="0"/>
              <a:t>5 </a:t>
            </a:r>
            <a:r>
              <a:rPr lang="de-DE" dirty="0" err="1"/>
              <a:t>Stoia</a:t>
            </a:r>
            <a:r>
              <a:rPr lang="de-DE" dirty="0"/>
              <a:t> (2020)</a:t>
            </a:r>
            <a:endParaRPr lang="de-DE" i="1" dirty="0"/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F6341C4B-364E-CE11-494C-423ED0DB0862}"/>
              </a:ext>
            </a:extLst>
          </p:cNvPr>
          <p:cNvSpPr txBox="1">
            <a:spLocks/>
          </p:cNvSpPr>
          <p:nvPr/>
        </p:nvSpPr>
        <p:spPr>
          <a:xfrm>
            <a:off x="481799" y="4802602"/>
            <a:ext cx="4835483" cy="1918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Grafik 6" descr="Besorgte Gesichtskontur mit einfarbiger Füllung">
            <a:extLst>
              <a:ext uri="{FF2B5EF4-FFF2-40B4-BE49-F238E27FC236}">
                <a16:creationId xmlns:a16="http://schemas.microsoft.com/office/drawing/2014/main" id="{E10D53D5-6C17-D1B7-C7EC-E6042D6C2F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42340" y="4015649"/>
            <a:ext cx="914400" cy="914400"/>
          </a:xfrm>
          <a:prstGeom prst="rect">
            <a:avLst/>
          </a:prstGeom>
        </p:spPr>
      </p:pic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AC288CFC-4F6F-62F5-1DC3-F77989291292}"/>
              </a:ext>
            </a:extLst>
          </p:cNvPr>
          <p:cNvSpPr txBox="1">
            <a:spLocks/>
          </p:cNvSpPr>
          <p:nvPr/>
        </p:nvSpPr>
        <p:spPr>
          <a:xfrm>
            <a:off x="587870" y="2146861"/>
            <a:ext cx="4835483" cy="914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Show that </a:t>
            </a:r>
            <a:r>
              <a:rPr lang="en-US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Genre-specific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phrasing more important for stylistic discrimination than topics and sentiments (RQ1+3)</a:t>
            </a:r>
            <a:endParaRPr lang="en-US" sz="2000" b="0" baseline="30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" name="Grafik 9" descr="Venn-Diagramm Silhouette">
            <a:extLst>
              <a:ext uri="{FF2B5EF4-FFF2-40B4-BE49-F238E27FC236}">
                <a16:creationId xmlns:a16="http://schemas.microsoft.com/office/drawing/2014/main" id="{F29EAAAB-2816-7EBD-0458-677197FD9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5140" y="1128283"/>
            <a:ext cx="914400" cy="914400"/>
          </a:xfrm>
          <a:prstGeom prst="rect">
            <a:avLst/>
          </a:prstGeom>
        </p:spPr>
      </p:pic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01F17DE3-96D5-3B8D-8D46-73BE394461F6}"/>
              </a:ext>
            </a:extLst>
          </p:cNvPr>
          <p:cNvSpPr txBox="1">
            <a:spLocks/>
          </p:cNvSpPr>
          <p:nvPr/>
        </p:nvSpPr>
        <p:spPr>
          <a:xfrm>
            <a:off x="6768647" y="2138449"/>
            <a:ext cx="4835483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Hip Hop and Rock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most easily discriminated</a:t>
            </a:r>
            <a:r>
              <a:rPr lang="en-US" sz="2000" b="0" baseline="30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(RQ2+3)</a:t>
            </a:r>
          </a:p>
        </p:txBody>
      </p:sp>
      <p:pic>
        <p:nvPicPr>
          <p:cNvPr id="13" name="Grafik 12" descr="Baseballkappe Silhouette">
            <a:extLst>
              <a:ext uri="{FF2B5EF4-FFF2-40B4-BE49-F238E27FC236}">
                <a16:creationId xmlns:a16="http://schemas.microsoft.com/office/drawing/2014/main" id="{1C39B9EE-4077-3C68-24C2-94C597977B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0216" y="828622"/>
            <a:ext cx="914400" cy="914400"/>
          </a:xfrm>
          <a:prstGeom prst="rect">
            <a:avLst/>
          </a:prstGeom>
        </p:spPr>
      </p:pic>
      <p:pic>
        <p:nvPicPr>
          <p:cNvPr id="16" name="Grafik 15" descr="Elektrische Gitarre Silhouette">
            <a:extLst>
              <a:ext uri="{FF2B5EF4-FFF2-40B4-BE49-F238E27FC236}">
                <a16:creationId xmlns:a16="http://schemas.microsoft.com/office/drawing/2014/main" id="{1BA5E550-A6FF-4E7D-6C10-5BC05D8D32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6360" y="1018699"/>
            <a:ext cx="1166019" cy="1166019"/>
          </a:xfrm>
          <a:prstGeom prst="rect">
            <a:avLst/>
          </a:prstGeom>
        </p:spPr>
      </p:pic>
      <p:pic>
        <p:nvPicPr>
          <p:cNvPr id="17" name="Grafik 16" descr="Mikrofon mit einfarbiger Füllung">
            <a:extLst>
              <a:ext uri="{FF2B5EF4-FFF2-40B4-BE49-F238E27FC236}">
                <a16:creationId xmlns:a16="http://schemas.microsoft.com/office/drawing/2014/main" id="{141942C5-6AFF-AA55-B7B4-988BD336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00004" y="1530344"/>
            <a:ext cx="554854" cy="594327"/>
          </a:xfrm>
          <a:prstGeom prst="rect">
            <a:avLst/>
          </a:prstGeom>
        </p:spPr>
      </p:pic>
      <p:sp>
        <p:nvSpPr>
          <p:cNvPr id="22" name="Inhaltsplatzhalter 4">
            <a:extLst>
              <a:ext uri="{FF2B5EF4-FFF2-40B4-BE49-F238E27FC236}">
                <a16:creationId xmlns:a16="http://schemas.microsoft.com/office/drawing/2014/main" id="{CCC5DE78-F1C9-FB21-BAC1-5270D6BF0F89}"/>
              </a:ext>
            </a:extLst>
          </p:cNvPr>
          <p:cNvSpPr txBox="1">
            <a:spLocks/>
          </p:cNvSpPr>
          <p:nvPr/>
        </p:nvSpPr>
        <p:spPr>
          <a:xfrm>
            <a:off x="6768647" y="4930049"/>
            <a:ext cx="4991981" cy="11210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Principled </a:t>
            </a:r>
            <a:r>
              <a:rPr lang="en-US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division between predictive and explanatory </a:t>
            </a:r>
            <a: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models (RQ2+3); </a:t>
            </a:r>
            <a:b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supports scholarly and practical applications</a:t>
            </a:r>
            <a:r>
              <a:rPr lang="en-US" sz="2000" b="0" baseline="30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4,5</a:t>
            </a:r>
          </a:p>
        </p:txBody>
      </p:sp>
      <p:pic>
        <p:nvPicPr>
          <p:cNvPr id="23" name="Grafik 22" descr="Chatblase Silhouette">
            <a:extLst>
              <a:ext uri="{FF2B5EF4-FFF2-40B4-BE49-F238E27FC236}">
                <a16:creationId xmlns:a16="http://schemas.microsoft.com/office/drawing/2014/main" id="{D86FE1FB-DEB2-558B-B83A-2BC0629B0B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2724389" y="1115987"/>
            <a:ext cx="865148" cy="926696"/>
          </a:xfrm>
          <a:prstGeom prst="rect">
            <a:avLst/>
          </a:prstGeom>
        </p:spPr>
      </p:pic>
      <p:pic>
        <p:nvPicPr>
          <p:cNvPr id="25" name="Grafik 24" descr="Roboter Silhouette">
            <a:extLst>
              <a:ext uri="{FF2B5EF4-FFF2-40B4-BE49-F238E27FC236}">
                <a16:creationId xmlns:a16="http://schemas.microsoft.com/office/drawing/2014/main" id="{F482E2C6-7FB2-B71C-F5A2-74B6D26C0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0216" y="3888202"/>
            <a:ext cx="914400" cy="914400"/>
          </a:xfrm>
          <a:prstGeom prst="rect">
            <a:avLst/>
          </a:prstGeom>
        </p:spPr>
      </p:pic>
      <p:pic>
        <p:nvPicPr>
          <p:cNvPr id="27" name="Grafik 26" descr="Lupe Silhouette">
            <a:extLst>
              <a:ext uri="{FF2B5EF4-FFF2-40B4-BE49-F238E27FC236}">
                <a16:creationId xmlns:a16="http://schemas.microsoft.com/office/drawing/2014/main" id="{B8934F93-B444-CC9B-FFDD-E39F035628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2169" y="388820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11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724A-4A5A-F574-6263-96A13557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4D50CC-AF56-65F7-06FB-1221C5A0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Limitations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092AC80-9FE6-BD25-5E96-30F2672FB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62" y="3609912"/>
            <a:ext cx="11291887" cy="555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Future Research</a:t>
            </a:r>
          </a:p>
        </p:txBody>
      </p:sp>
      <p:pic>
        <p:nvPicPr>
          <p:cNvPr id="12" name="Grafik 11" descr="Erdkugel: Amerika mit einfarbiger Füllung">
            <a:extLst>
              <a:ext uri="{FF2B5EF4-FFF2-40B4-BE49-F238E27FC236}">
                <a16:creationId xmlns:a16="http://schemas.microsoft.com/office/drawing/2014/main" id="{69638E55-A394-15C0-1D12-3579433D3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01553" y="4224973"/>
            <a:ext cx="914400" cy="9144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AA5DE844-6336-BEAF-8FF4-7B7D3B08652B}"/>
              </a:ext>
            </a:extLst>
          </p:cNvPr>
          <p:cNvSpPr txBox="1"/>
          <p:nvPr/>
        </p:nvSpPr>
        <p:spPr>
          <a:xfrm>
            <a:off x="706348" y="1829280"/>
            <a:ext cx="5616624" cy="18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Dicogs</a:t>
            </a:r>
            <a:r>
              <a:rPr lang="en-US"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community’s </a:t>
            </a:r>
            <a:r>
              <a:rPr lang="en-US" sz="2000" b="1" dirty="0"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perspective on fuzzy genre boundaries</a:t>
            </a:r>
            <a:r>
              <a:rPr lang="en-US" sz="2000" baseline="30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 </a:t>
            </a:r>
          </a:p>
          <a:p>
            <a:endParaRPr lang="en-US" sz="2000" baseline="30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Multilabel reduced to </a:t>
            </a:r>
            <a:r>
              <a:rPr lang="en-US" sz="2000" b="1" dirty="0"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single label assignments </a:t>
            </a:r>
            <a:br>
              <a:rPr lang="en-US" sz="2000" b="1" dirty="0"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interpretability</a:t>
            </a:r>
          </a:p>
          <a:p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F851575-E770-80BF-FFD5-32FDC5B4EF57}"/>
              </a:ext>
            </a:extLst>
          </p:cNvPr>
          <p:cNvSpPr txBox="1"/>
          <p:nvPr/>
        </p:nvSpPr>
        <p:spPr>
          <a:xfrm>
            <a:off x="6096000" y="1823885"/>
            <a:ext cx="5716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Genres treated as </a:t>
            </a:r>
            <a:r>
              <a:rPr lang="en-US" sz="2000" b="1" dirty="0"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temporarily stable</a:t>
            </a:r>
            <a:r>
              <a:rPr lang="en-US" sz="2000" baseline="30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sz="2000" b="1" dirty="0">
                <a:ea typeface="Calibri Light" panose="020F0302020204030204" pitchFamily="34" charset="0"/>
                <a:cs typeface="Calibri Light" panose="020F0302020204030204" pitchFamily="34" charset="0"/>
              </a:rPr>
              <a:t>single label categories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447292B-ADA7-5B98-B081-B6A1D90DFE2A}"/>
              </a:ext>
            </a:extLst>
          </p:cNvPr>
          <p:cNvSpPr txBox="1"/>
          <p:nvPr/>
        </p:nvSpPr>
        <p:spPr>
          <a:xfrm>
            <a:off x="675432" y="5309720"/>
            <a:ext cx="4896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Extend to </a:t>
            </a:r>
            <a:r>
              <a:rPr lang="en-US" sz="2000" b="1" dirty="0"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other corpora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other languages and language agnostic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models</a:t>
            </a:r>
            <a:r>
              <a:rPr lang="en-US" sz="2000" baseline="30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10FE5A4-1E9C-1E12-724B-0D91C1A470FC}"/>
              </a:ext>
            </a:extLst>
          </p:cNvPr>
          <p:cNvSpPr txBox="1"/>
          <p:nvPr/>
        </p:nvSpPr>
        <p:spPr>
          <a:xfrm>
            <a:off x="6136037" y="5283047"/>
            <a:ext cx="5645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b="1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Integrate</a:t>
            </a:r>
            <a:r>
              <a:rPr lang="de-DE" sz="2000" b="1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b="1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with</a:t>
            </a:r>
            <a:r>
              <a:rPr lang="de-DE" sz="2000" b="1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b="1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other</a:t>
            </a:r>
            <a:r>
              <a:rPr lang="de-DE" sz="2000" b="1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b="1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features</a:t>
            </a:r>
            <a:r>
              <a:rPr lang="de-DE" sz="2000" b="1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de-DE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audio</a:t>
            </a:r>
            <a:r>
              <a:rPr lang="de-DE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release-</a:t>
            </a:r>
            <a:r>
              <a:rPr lang="de-DE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context</a:t>
            </a:r>
            <a:r>
              <a:rPr lang="de-DE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formal / </a:t>
            </a:r>
            <a:r>
              <a:rPr lang="de-DE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structural</a:t>
            </a:r>
            <a:r>
              <a:rPr lang="de-DE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lyrics</a:t>
            </a:r>
            <a:r>
              <a:rPr lang="de-DE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in </a:t>
            </a:r>
            <a:r>
              <a:rPr lang="de-DE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interpretable</a:t>
            </a:r>
            <a:r>
              <a:rPr lang="de-DE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models</a:t>
            </a:r>
            <a:r>
              <a:rPr lang="de-DE" sz="2000" baseline="30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</a:t>
            </a:r>
            <a:endParaRPr lang="en-US" sz="2000" baseline="300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194510-C1D1-C540-FE2E-A3CD8BDDD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429" y="6356351"/>
            <a:ext cx="11292199" cy="365125"/>
          </a:xfrm>
        </p:spPr>
        <p:txBody>
          <a:bodyPr/>
          <a:lstStyle/>
          <a:p>
            <a:r>
              <a:rPr lang="de-DE" baseline="30000" dirty="0"/>
              <a:t>1 </a:t>
            </a:r>
            <a:r>
              <a:rPr lang="de-DE" dirty="0"/>
              <a:t>van </a:t>
            </a:r>
            <a:r>
              <a:rPr lang="de-DE" dirty="0" err="1"/>
              <a:t>Venrooj</a:t>
            </a:r>
            <a:r>
              <a:rPr lang="de-DE" dirty="0"/>
              <a:t> &amp; Schmutz (2018)   </a:t>
            </a:r>
            <a:r>
              <a:rPr lang="de-DE" baseline="30000" dirty="0"/>
              <a:t>2 </a:t>
            </a:r>
            <a:r>
              <a:rPr lang="de-DE" dirty="0"/>
              <a:t>Lena &amp; Peterson (2008)   </a:t>
            </a:r>
            <a:r>
              <a:rPr lang="de-DE" baseline="30000" dirty="0"/>
              <a:t>3 </a:t>
            </a:r>
            <a:r>
              <a:rPr lang="de-DE" dirty="0"/>
              <a:t>Werner (2023)   </a:t>
            </a:r>
            <a:r>
              <a:rPr lang="de-DE" baseline="30000" dirty="0"/>
              <a:t>4 </a:t>
            </a:r>
            <a:r>
              <a:rPr lang="de-DE" dirty="0"/>
              <a:t>Lepa &amp; Radke (2026)</a:t>
            </a:r>
          </a:p>
        </p:txBody>
      </p:sp>
      <p:pic>
        <p:nvPicPr>
          <p:cNvPr id="5" name="Grafik 4" descr="Sitzungssaal Silhouette">
            <a:extLst>
              <a:ext uri="{FF2B5EF4-FFF2-40B4-BE49-F238E27FC236}">
                <a16:creationId xmlns:a16="http://schemas.microsoft.com/office/drawing/2014/main" id="{F6CB3082-A2C4-7D01-169F-62F43E3456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7460" y="686771"/>
            <a:ext cx="1105272" cy="1105272"/>
          </a:xfrm>
          <a:prstGeom prst="rect">
            <a:avLst/>
          </a:prstGeom>
        </p:spPr>
      </p:pic>
      <p:pic>
        <p:nvPicPr>
          <p:cNvPr id="11" name="Grafik 10" descr="Blitz mit einfarbiger Füllung">
            <a:extLst>
              <a:ext uri="{FF2B5EF4-FFF2-40B4-BE49-F238E27FC236}">
                <a16:creationId xmlns:a16="http://schemas.microsoft.com/office/drawing/2014/main" id="{B7EC3CAF-F54C-98E9-AC38-CF695BE6F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4317" y="724861"/>
            <a:ext cx="673224" cy="673224"/>
          </a:xfrm>
          <a:prstGeom prst="rect">
            <a:avLst/>
          </a:prstGeom>
        </p:spPr>
      </p:pic>
      <p:pic>
        <p:nvPicPr>
          <p:cNvPr id="18" name="Grafik 17" descr="Prost Silhouette">
            <a:extLst>
              <a:ext uri="{FF2B5EF4-FFF2-40B4-BE49-F238E27FC236}">
                <a16:creationId xmlns:a16="http://schemas.microsoft.com/office/drawing/2014/main" id="{CC4CA630-2EE1-B043-5B5E-0AB46B3D4B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7248" y="4093452"/>
            <a:ext cx="914400" cy="914400"/>
          </a:xfrm>
          <a:prstGeom prst="rect">
            <a:avLst/>
          </a:prstGeom>
        </p:spPr>
      </p:pic>
      <p:pic>
        <p:nvPicPr>
          <p:cNvPr id="6" name="Grafik 5" descr="Statistiken Silhouette">
            <a:extLst>
              <a:ext uri="{FF2B5EF4-FFF2-40B4-BE49-F238E27FC236}">
                <a16:creationId xmlns:a16="http://schemas.microsoft.com/office/drawing/2014/main" id="{FEBCCDF5-956F-D3D5-83F1-4FDA63EAC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16397" y="815165"/>
            <a:ext cx="914400" cy="914400"/>
          </a:xfrm>
          <a:prstGeom prst="rect">
            <a:avLst/>
          </a:prstGeom>
        </p:spPr>
      </p:pic>
      <p:pic>
        <p:nvPicPr>
          <p:cNvPr id="14" name="Grafik 13" descr="Uhr mit einfarbiger Füllung">
            <a:extLst>
              <a:ext uri="{FF2B5EF4-FFF2-40B4-BE49-F238E27FC236}">
                <a16:creationId xmlns:a16="http://schemas.microsoft.com/office/drawing/2014/main" id="{5BACDBAA-73CE-F074-09B0-94601BFE1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6547" y="889011"/>
            <a:ext cx="766707" cy="76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5" grpId="0"/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E606-87EE-7C2D-DF3D-77E77C89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6D956A-B3F0-A75D-1362-520C5750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Thesis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C691E7F-48DC-1F95-B8FF-FF58DB120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3836156"/>
            <a:ext cx="4403435" cy="2257139"/>
          </a:xfrm>
        </p:spPr>
        <p:txBody>
          <a:bodyPr>
            <a:noAutofit/>
          </a:bodyPr>
          <a:lstStyle/>
          <a:p>
            <a:r>
              <a:rPr lang="de-DE" sz="2000" b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Compare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b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approach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b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/>
              <a:t>German </a:t>
            </a:r>
            <a:r>
              <a:rPr lang="de-DE" sz="2000" dirty="0" err="1"/>
              <a:t>language</a:t>
            </a:r>
            <a:r>
              <a:rPr lang="de-DE" sz="2000" dirty="0"/>
              <a:t> </a:t>
            </a:r>
            <a:r>
              <a:rPr lang="de-DE" sz="2000" dirty="0" err="1"/>
              <a:t>lyrics</a:t>
            </a:r>
            <a:r>
              <a:rPr lang="de-DE" sz="2000" dirty="0"/>
              <a:t> and </a:t>
            </a:r>
            <a:r>
              <a:rPr lang="de-DE" sz="2000" dirty="0" err="1"/>
              <a:t>translation</a:t>
            </a:r>
            <a:r>
              <a:rPr lang="de-DE" sz="2000" dirty="0"/>
              <a:t> 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de-DE" sz="2000" b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DGPuK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and </a:t>
            </a:r>
            <a:r>
              <a:rPr lang="de-DE" sz="2000" b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COMGET </a:t>
            </a:r>
            <a:r>
              <a:rPr lang="de-DE" sz="20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genres</a:t>
            </a:r>
            <a:endParaRPr lang="de-DE" sz="20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de-DE" sz="2000" dirty="0"/>
          </a:p>
          <a:p>
            <a:r>
              <a:rPr lang="de-DE" sz="2000" dirty="0" err="1"/>
              <a:t>Integrate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 </a:t>
            </a:r>
            <a:r>
              <a:rPr lang="de-DE" sz="2000" b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automatic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b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music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b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genre</a:t>
            </a:r>
            <a:r>
              <a:rPr lang="de-DE" sz="20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000" b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classifier</a:t>
            </a:r>
            <a:endParaRPr lang="de-DE" sz="2000" b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1CA0A8-EFC3-004E-24F0-3E75DC1EA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8" name="Grafik 7" descr="Chatblase Silhouette">
            <a:extLst>
              <a:ext uri="{FF2B5EF4-FFF2-40B4-BE49-F238E27FC236}">
                <a16:creationId xmlns:a16="http://schemas.microsoft.com/office/drawing/2014/main" id="{7B592403-6562-13F8-AC6B-5A6AE1F4F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2738801" y="1769279"/>
            <a:ext cx="914400" cy="914400"/>
          </a:xfrm>
          <a:prstGeom prst="rect">
            <a:avLst/>
          </a:prstGeom>
        </p:spPr>
      </p:pic>
      <p:pic>
        <p:nvPicPr>
          <p:cNvPr id="10" name="Grafik 9" descr="Mikrofon mit einfarbiger Füllung">
            <a:extLst>
              <a:ext uri="{FF2B5EF4-FFF2-40B4-BE49-F238E27FC236}">
                <a16:creationId xmlns:a16="http://schemas.microsoft.com/office/drawing/2014/main" id="{31DFB517-23F9-DC97-C71E-B42EB2FABB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141033" y="2345518"/>
            <a:ext cx="914400" cy="914400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573D8D6-DC55-C43C-4F6A-E17713B424CA}"/>
              </a:ext>
            </a:extLst>
          </p:cNvPr>
          <p:cNvGrpSpPr/>
          <p:nvPr/>
        </p:nvGrpSpPr>
        <p:grpSpPr>
          <a:xfrm>
            <a:off x="6384032" y="1686420"/>
            <a:ext cx="4824535" cy="4657165"/>
            <a:chOff x="6384032" y="1686420"/>
            <a:chExt cx="4824535" cy="4657165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8A220C02-9173-D5A8-3E19-23D9E813DA97}"/>
                </a:ext>
              </a:extLst>
            </p:cNvPr>
            <p:cNvGrpSpPr/>
            <p:nvPr/>
          </p:nvGrpSpPr>
          <p:grpSpPr>
            <a:xfrm>
              <a:off x="8126436" y="1686420"/>
              <a:ext cx="1656359" cy="1656359"/>
              <a:chOff x="8637983" y="2897061"/>
              <a:chExt cx="1656359" cy="1656359"/>
            </a:xfrm>
          </p:grpSpPr>
          <p:pic>
            <p:nvPicPr>
              <p:cNvPr id="6" name="Grafik 5" descr="Klemmbrett Silhouette">
                <a:extLst>
                  <a:ext uri="{FF2B5EF4-FFF2-40B4-BE49-F238E27FC236}">
                    <a16:creationId xmlns:a16="http://schemas.microsoft.com/office/drawing/2014/main" id="{0DC31269-B8B5-EF8E-AD63-3C2BA54A20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637983" y="2897061"/>
                <a:ext cx="1656359" cy="1656359"/>
              </a:xfrm>
              <a:prstGeom prst="rect">
                <a:avLst/>
              </a:prstGeom>
            </p:spPr>
          </p:pic>
          <p:pic>
            <p:nvPicPr>
              <p:cNvPr id="13" name="Grafik 12" descr="Disk Jockey männlich mit einfarbiger Füllung">
                <a:extLst>
                  <a:ext uri="{FF2B5EF4-FFF2-40B4-BE49-F238E27FC236}">
                    <a16:creationId xmlns:a16="http://schemas.microsoft.com/office/drawing/2014/main" id="{81D6122D-DE47-D78B-EAF0-43A442CA8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008963" y="342643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CBE51D47-C7E0-DFB0-C445-FBDFFC80AA0D}"/>
                </a:ext>
              </a:extLst>
            </p:cNvPr>
            <p:cNvSpPr txBox="1"/>
            <p:nvPr/>
          </p:nvSpPr>
          <p:spPr>
            <a:xfrm>
              <a:off x="6384032" y="3789040"/>
              <a:ext cx="4824535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/>
                <a:t>Finish fixing and improving Spotivey </a:t>
              </a:r>
              <a:r>
                <a:rPr lang="en-US" sz="200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donation tool (May)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Add gamified </a:t>
              </a:r>
              <a:r>
                <a:rPr lang="en-US" sz="2000" b="1" dirty="0"/>
                <a:t>“Spotify wrapped"-style feature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dirty="0"/>
                <a:t>Collect listening</a:t>
              </a:r>
              <a:r>
                <a:rPr lang="en-US" sz="2000" b="1" dirty="0">
                  <a:latin typeface="+mj-lt"/>
                </a:rPr>
                <a:t> </a:t>
              </a:r>
              <a:r>
                <a:rPr lang="en-US" sz="2000" b="1" dirty="0">
                  <a:latin typeface="+mj-lt"/>
                  <a:ea typeface="Calibri Light" panose="020F0302020204030204" pitchFamily="34" charset="0"/>
                  <a:cs typeface="Calibri Light" panose="020F0302020204030204" pitchFamily="34" charset="0"/>
                </a:rPr>
                <a:t>data </a:t>
              </a:r>
              <a:r>
                <a:rPr lang="en-US" sz="200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from German adults aged 18–30 (June)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713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6FAFEA-E940-3D0B-979D-8D6DA67FE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747964"/>
            <a:ext cx="10363200" cy="2121196"/>
          </a:xfrm>
        </p:spPr>
        <p:txBody>
          <a:bodyPr>
            <a:normAutofit fontScale="90000"/>
          </a:bodyPr>
          <a:lstStyle/>
          <a:p>
            <a:r>
              <a:rPr lang="de-DE" cap="none" dirty="0" err="1"/>
              <a:t>Thank</a:t>
            </a:r>
            <a:r>
              <a:rPr lang="de-DE" cap="none" dirty="0"/>
              <a:t> </a:t>
            </a:r>
            <a:r>
              <a:rPr lang="de-DE" cap="none" dirty="0" err="1"/>
              <a:t>you</a:t>
            </a:r>
            <a:r>
              <a:rPr lang="de-DE" cap="none" dirty="0"/>
              <a:t> </a:t>
            </a:r>
            <a:r>
              <a:rPr lang="de-DE" cap="none" dirty="0" err="1"/>
              <a:t>very</a:t>
            </a:r>
            <a:r>
              <a:rPr lang="de-DE" cap="none" dirty="0"/>
              <a:t> </a:t>
            </a:r>
            <a:r>
              <a:rPr lang="de-DE" cap="none" dirty="0" err="1"/>
              <a:t>much</a:t>
            </a:r>
            <a:r>
              <a:rPr lang="de-DE" cap="none" dirty="0"/>
              <a:t> </a:t>
            </a:r>
            <a:r>
              <a:rPr lang="de-DE" cap="none" dirty="0" err="1"/>
              <a:t>for</a:t>
            </a:r>
            <a:r>
              <a:rPr lang="de-DE" cap="none" dirty="0"/>
              <a:t> </a:t>
            </a:r>
            <a:r>
              <a:rPr lang="de-DE" cap="none" dirty="0" err="1"/>
              <a:t>listening</a:t>
            </a:r>
            <a:r>
              <a:rPr lang="en-DE" cap="none" dirty="0"/>
              <a:t>!</a:t>
            </a:r>
            <a:br>
              <a:rPr lang="en-DE" cap="none" dirty="0"/>
            </a:br>
            <a:br>
              <a:rPr lang="en-DE" dirty="0"/>
            </a:br>
            <a:r>
              <a:rPr lang="de-DE" sz="2800" cap="none" dirty="0">
                <a:solidFill>
                  <a:schemeClr val="tx1"/>
                </a:solidFill>
                <a:hlinkClick r:id="rId2"/>
              </a:rPr>
              <a:t>markus.radke@tu-berlin.de</a:t>
            </a:r>
            <a:r>
              <a:rPr lang="de-DE" sz="2800" cap="none" dirty="0">
                <a:solidFill>
                  <a:schemeClr val="tx1"/>
                </a:solidFill>
              </a:rPr>
              <a:t> </a:t>
            </a:r>
            <a:br>
              <a:rPr lang="de-DE" sz="2800" cap="none" dirty="0">
                <a:solidFill>
                  <a:schemeClr val="tx1"/>
                </a:solidFill>
              </a:rPr>
            </a:br>
            <a:br>
              <a:rPr lang="de-DE" sz="2800" cap="none" dirty="0">
                <a:solidFill>
                  <a:schemeClr val="tx1"/>
                </a:solidFill>
              </a:rPr>
            </a:br>
            <a:endParaRPr lang="en-DE" cap="none" dirty="0">
              <a:solidFill>
                <a:schemeClr val="tx1"/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5EDEB3-2FD7-B454-5357-975382FF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15847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FoKo_2025109</Template>
  <TotalTime>0</TotalTime>
  <Words>1539</Words>
  <Application>Microsoft Office PowerPoint</Application>
  <PresentationFormat>Breitbild</PresentationFormat>
  <Paragraphs>232</Paragraphs>
  <Slides>24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Calibri </vt:lpstr>
      <vt:lpstr>Calibri Light</vt:lpstr>
      <vt:lpstr>Calibri Textkörper</vt:lpstr>
      <vt:lpstr>Larissa</vt:lpstr>
      <vt:lpstr>Genre-Discriminating Lyrical Patterns in Anglophone German Popular Music   </vt:lpstr>
      <vt:lpstr>Lyrics encode popular music genre differences</vt:lpstr>
      <vt:lpstr>Prediction vs Explanation</vt:lpstr>
      <vt:lpstr>We Investigate Lyrical Style</vt:lpstr>
      <vt:lpstr>We Investigate Lyrical Style</vt:lpstr>
      <vt:lpstr>Research Questions</vt:lpstr>
      <vt:lpstr>MEthods</vt:lpstr>
      <vt:lpstr>Corpus: Popular-Tracks-In-Germany Data Set (POPTRAG)</vt:lpstr>
      <vt:lpstr>Lyrics Preprocessing and Split</vt:lpstr>
      <vt:lpstr>RQ1: Stylistic Patterns – Fightin‘ n-grams Vocabularies</vt:lpstr>
      <vt:lpstr>RQ1: Stylistic Patterns – Latent Types</vt:lpstr>
      <vt:lpstr>RQ2+3: Machine Learning Experiments and Interpretation</vt:lpstr>
      <vt:lpstr>RESULTS</vt:lpstr>
      <vt:lpstr>RQ1: Music Genre Discriminating Style - Vocabularies</vt:lpstr>
      <vt:lpstr>RQ1: Music Genre Discriminating Style – Latent Types</vt:lpstr>
      <vt:lpstr>RQ1: Music Genre Discriminating Style – Latent Types Probability</vt:lpstr>
      <vt:lpstr>RQ2: Interpretable ML Performance</vt:lpstr>
      <vt:lpstr>RQ3: Global Feature Importances</vt:lpstr>
      <vt:lpstr>DISCuSSIOn</vt:lpstr>
      <vt:lpstr>Summary</vt:lpstr>
      <vt:lpstr>Discussion</vt:lpstr>
      <vt:lpstr>Limitations</vt:lpstr>
      <vt:lpstr>Next Steps for Thesis</vt:lpstr>
      <vt:lpstr>Thank you very much for listening!  markus.radke@tu-berlin.de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Radke</dc:creator>
  <cp:lastModifiedBy>Markus Radke</cp:lastModifiedBy>
  <cp:revision>366</cp:revision>
  <cp:lastPrinted>2016-03-04T14:02:06Z</cp:lastPrinted>
  <dcterms:created xsi:type="dcterms:W3CDTF">2026-02-27T10:25:41Z</dcterms:created>
  <dcterms:modified xsi:type="dcterms:W3CDTF">2026-04-24T21:09:45Z</dcterms:modified>
</cp:coreProperties>
</file>